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6346f1479f4e7c" /><Relationship Type="http://schemas.openxmlformats.org/officeDocument/2006/relationships/extended-properties" Target="/docProps/app.xml" Id="Ra539c7960eb54ddf" /><Relationship Type="http://schemas.openxmlformats.org/officeDocument/2006/relationships/officeDocument" Target="/ppt/presentation.xml" Id="R6839b789250146e6" /></Relationships>
</file>

<file path=ppt/presentation.xml><?xml version="1.0" encoding="utf-8"?>
<p:presentation xmlns:p="http://schemas.openxmlformats.org/presentationml/2006/main">
  <p:sldMasterIdLst>
    <p:sldMasterId xmlns:r="http://schemas.openxmlformats.org/officeDocument/2006/relationships" id="2147483648" r:id="R95539d0b71cf47ca"/>
  </p:sldMasterIdLst>
  <p:notesMasterIdLst>
    <p:notesMasterId xmlns:r="http://schemas.openxmlformats.org/officeDocument/2006/relationships" r:id="R66139a413bb045b2"/>
  </p:notesMasterIdLst>
  <p:sldIdLst>
    <p:sldId xmlns:r="http://schemas.openxmlformats.org/officeDocument/2006/relationships" id="256" r:id="Rac1846f96b9041b8"/>
    <p:sldId xmlns:r="http://schemas.openxmlformats.org/officeDocument/2006/relationships" id="257" r:id="Rc34606f0636c46a0"/>
    <p:sldId xmlns:r="http://schemas.openxmlformats.org/officeDocument/2006/relationships" id="258" r:id="R63360a1fa67a415b"/>
    <p:sldId xmlns:r="http://schemas.openxmlformats.org/officeDocument/2006/relationships" id="259" r:id="Red469c1e394b4067"/>
    <p:sldId xmlns:r="http://schemas.openxmlformats.org/officeDocument/2006/relationships" id="260" r:id="R14aa512acbcc420e"/>
    <p:sldId xmlns:r="http://schemas.openxmlformats.org/officeDocument/2006/relationships" id="261" r:id="R11bc3cbd97bb4024"/>
    <p:sldId xmlns:r="http://schemas.openxmlformats.org/officeDocument/2006/relationships" id="262" r:id="R5f5827e290a64c2c"/>
    <p:sldId xmlns:r="http://schemas.openxmlformats.org/officeDocument/2006/relationships" id="263" r:id="Re7443f4277b84d05"/>
    <p:sldId xmlns:r="http://schemas.openxmlformats.org/officeDocument/2006/relationships" id="264" r:id="R4c5fc7ee7d0a44f2"/>
    <p:sldId xmlns:r="http://schemas.openxmlformats.org/officeDocument/2006/relationships" id="265" r:id="R3ec5ba4e148e47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5dacd796a041de" /><Relationship Type="http://schemas.openxmlformats.org/officeDocument/2006/relationships/slideMaster" Target="/ppt/slideMasters/slideMaster1.xml" Id="R95539d0b71cf47ca" /><Relationship Type="http://schemas.openxmlformats.org/officeDocument/2006/relationships/notesMaster" Target="/ppt/notesMasters/notesMaster1.xml" Id="R66139a413bb045b2" /><Relationship Type="http://schemas.openxmlformats.org/officeDocument/2006/relationships/presProps" Target="/ppt/presProps.xml" Id="R23e0f74e31e6498f" /><Relationship Type="http://schemas.openxmlformats.org/officeDocument/2006/relationships/tableStyles" Target="/ppt/tableStyles.xml" Id="R9ee33ba14a8c49c3" /><Relationship Type="http://schemas.openxmlformats.org/officeDocument/2006/relationships/slide" Target="/ppt/slides/slide1.xml" Id="Rac1846f96b9041b8" /><Relationship Type="http://schemas.openxmlformats.org/officeDocument/2006/relationships/slide" Target="/ppt/slides/slide2.xml" Id="Rc34606f0636c46a0" /><Relationship Type="http://schemas.openxmlformats.org/officeDocument/2006/relationships/slide" Target="/ppt/slides/slide3.xml" Id="R63360a1fa67a415b" /><Relationship Type="http://schemas.openxmlformats.org/officeDocument/2006/relationships/slide" Target="/ppt/slides/slide4.xml" Id="Red469c1e394b4067" /><Relationship Type="http://schemas.openxmlformats.org/officeDocument/2006/relationships/slide" Target="/ppt/slides/slide5.xml" Id="R14aa512acbcc420e" /><Relationship Type="http://schemas.openxmlformats.org/officeDocument/2006/relationships/slide" Target="/ppt/slides/slide6.xml" Id="R11bc3cbd97bb4024" /><Relationship Type="http://schemas.openxmlformats.org/officeDocument/2006/relationships/slide" Target="/ppt/slides/slide7.xml" Id="R5f5827e290a64c2c" /><Relationship Type="http://schemas.openxmlformats.org/officeDocument/2006/relationships/slide" Target="/ppt/slides/slide8.xml" Id="Re7443f4277b84d05" /><Relationship Type="http://schemas.openxmlformats.org/officeDocument/2006/relationships/slide" Target="/ppt/slides/slide9.xml" Id="R4c5fc7ee7d0a44f2" /><Relationship Type="http://schemas.openxmlformats.org/officeDocument/2006/relationships/slide" Target="/ppt/slides/slide10.xml" Id="R3ec5ba4e148e47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04d8ea35c242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7dbf84dccd407b" /><Relationship Type="http://schemas.openxmlformats.org/officeDocument/2006/relationships/notesMaster" Target="/ppt/notesMasters/notesMaster1.xml" Id="R80b0ae4e47bd4c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56ad6b604f4395" /><Relationship Type="http://schemas.openxmlformats.org/officeDocument/2006/relationships/notesMaster" Target="/ppt/notesMasters/notesMaster1.xml" Id="Recdc9a9456f246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69ceebca544be4" /><Relationship Type="http://schemas.openxmlformats.org/officeDocument/2006/relationships/notesMaster" Target="/ppt/notesMasters/notesMaster1.xml" Id="R066eda98ee754d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6720b1d4234fa8" /><Relationship Type="http://schemas.openxmlformats.org/officeDocument/2006/relationships/notesMaster" Target="/ppt/notesMasters/notesMaster1.xml" Id="Rc4930df3924b4e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9e0a345c48453e" /><Relationship Type="http://schemas.openxmlformats.org/officeDocument/2006/relationships/notesMaster" Target="/ppt/notesMasters/notesMaster1.xml" Id="R833d3417c34d40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00bfce35f64e26" /><Relationship Type="http://schemas.openxmlformats.org/officeDocument/2006/relationships/notesMaster" Target="/ppt/notesMasters/notesMaster1.xml" Id="R9e9e51c2180846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0b40dd6d954f21" /><Relationship Type="http://schemas.openxmlformats.org/officeDocument/2006/relationships/notesMaster" Target="/ppt/notesMasters/notesMaster1.xml" Id="Rf9a478bdc68f49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a7db976f3f4e29" /><Relationship Type="http://schemas.openxmlformats.org/officeDocument/2006/relationships/notesMaster" Target="/ppt/notesMasters/notesMaster1.xml" Id="Rd3a3bb41be3845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83879488714c70" /><Relationship Type="http://schemas.openxmlformats.org/officeDocument/2006/relationships/notesMaster" Target="/ppt/notesMasters/notesMaster1.xml" Id="R6a9cdac41aa14c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3cc527b42b41f7" /><Relationship Type="http://schemas.openxmlformats.org/officeDocument/2006/relationships/notesMaster" Target="/ppt/notesMasters/notesMaster1.xml" Id="R614c72b5fb5643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proposing a customer ordering and kitchen management system for Bite Me Burgers. The aim is to carry one clear order through checkout, preparation and collection, then use the stored records to review trading.</a:t>
            </a:r>
          </a:p>
          <a:p xmlns:a="http://schemas.openxmlformats.org/drawingml/2006/main">
            <a:r>
              <a:t/>
            </a:r>
          </a:p>
          <a:p xmlns:a="http://schemas.openxmlformats.org/drawingml/2006/main">
            <a:r>
              <a:t>Slides 1 to 8 summarise my initial discussion with the owner-manager. Slides 9 and 10 record the follow-up feedback and my revised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Bite Me Burgers trades at markets, festivals and evening pitches. It sells burgers, sides and drinks with selected customisations. The owner-manager oversees service and trading decisions, so I selected them as the main stakeholder.</a:t>
            </a:r>
          </a:p>
          <a:p xmlns:a="http://schemas.openxmlformats.org/drawingml/2006/main">
            <a:r>
              <a:t/>
            </a:r>
          </a:p>
          <a:p xmlns:a="http://schemas.openxmlformats.org/drawingml/2006/main">
            <a:r>
              <a:t>I also discussed the handover with counter and kitchen staff because they experience the problems during service. Customers are secondary stakeholders and can comment on the ordering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Staff described orders containing two burgers but only one note saying no cheese. The kitchen then has to stop and clarify which burger the note applies to. If staff do not notice the ambiguity, they may have to remake the food. Customers also ask about progress, which causes further interruptions.</a:t>
            </a:r>
          </a:p>
          <a:p xmlns:a="http://schemas.openxmlformats.org/drawingml/2006/main">
            <a:r>
              <a:t/>
            </a:r>
          </a:p>
          <a:p xmlns:a="http://schemas.openxmlformats.org/drawingml/2006/main">
            <a:r>
              <a:t>Payment totals alone cannot tell the owner which products sold or when service slowed. I have not used guessed error rates or timings. I will gather suitable evidence during investigation and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were my starting ideas at the first discussion, rather than the final agreed workflow. I initially proposed an itemised basket and checkout, followed by immediate kitchen release when the customer confirmed the order. I also suggested one instruction field for the whole order and described the location report too broadly as identifying the most profitable pitch.</a:t>
            </a:r>
          </a:p>
          <a:p xmlns:a="http://schemas.openxmlformats.org/drawingml/2006/main">
            <a:r>
              <a:t/>
            </a:r>
          </a:p>
          <a:p xmlns:a="http://schemas.openxmlformats.org/drawingml/2006/main">
            <a:r>
              <a:t>I presented these decisions clearly so that the owner could challenge them. The later slides and report show how I revised the proposal in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Customers do not need accounts and cannot enter staff areas. Counter staff need an order reference, totals and the current status. Kitchen staff need quantities, item changes and a preparation queue, but they do not need account controls.</a:t>
            </a:r>
          </a:p>
          <a:p xmlns:a="http://schemas.openxmlformats.org/drawingml/2006/main">
            <a:r>
              <a:t/>
            </a:r>
          </a:p>
          <a:p xmlns:a="http://schemas.openxmlformats.org/drawingml/2006/main">
            <a:r>
              <a:t>The manager controls prices, staff accounts, reports and refund authorisation. Kitchen staff can flag a product as unavailable. The program must enforce permissions when an action is attempted, rather than relying only on hidden controls. Kiosk session data must clear after completion or abandonment.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build the system in VB.NET Windows Forms with persistent, related records for products, options, orders, order items, staff and trading sessions. The main programming challenges include keeping customisations attached to the correct item, rechecking availability, preventing duplicate submissions, controlling status changes and aggregating sales.</a:t>
            </a:r>
          </a:p>
          <a:p xmlns:a="http://schemas.openxmlformats.org/drawingml/2006/main">
            <a:r>
              <a:t/>
            </a:r>
          </a:p>
          <a:p xmlns:a="http://schemas.openxmlformats.org/drawingml/2006/main">
            <a:r>
              <a:t>Waiting time and active preparation time should remain separate measures based on recorded status timestamps. I will agree their exact definitions during 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customer interface will run on an on-site Windows kiosk, not a phone app or website. The prototype will demonstrate separate views on one computer using local data. It will not prove simultaneous use on separate kiosk and kitchen devices. Live deployment would need shared storage, concurrency testing and a suitable local network.</a:t>
            </a:r>
          </a:p>
          <a:p xmlns:a="http://schemas.openxmlformats.org/drawingml/2006/main">
            <a:r>
              <a:t/>
            </a:r>
          </a:p>
          <a:p xmlns:a="http://schemas.openxmlformats.org/drawingml/2006/main">
            <a:r>
              <a:t>Staff will record payment after using cash or a separate card terminal, so the program will not store card details. Staff must also keep availability flags current. Before live use, I would test backup and recovery, restrict access to stored data, train staff and retain a fallback ordering process. Test data alone cannot prove how the system will perform during peak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put these questions to the owner during the initial discussion. I asked whether the kitchen should receive an order before payment, whether one instruction could describe several different items, whether sales figures supported a profit comparison, and whether manual availability updates were sufficient for the first version.</a:t>
            </a:r>
          </a:p>
          <a:p xmlns:a="http://schemas.openxmlformats.org/drawingml/2006/main">
            <a:r>
              <a:t/>
            </a:r>
          </a:p>
          <a:p xmlns:a="http://schemas.openxmlformats.org/drawingml/2006/main">
            <a:r>
              <a:t>I recorded the reason for each decision and the change it caused. I then returned with the revised proposal shown on slides 9 and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owner raised four points during the follow-up discussion. I accepted the concern about unpaid orders reaching the kitchen, adapted customisation so that choices belong to individual items, corrected the reporting claim and deferred automatic ingredient stock after considering the extra data it would require.</a:t>
            </a:r>
          </a:p>
          <a:p xmlns:a="http://schemas.openxmlformats.org/drawingml/2006/main">
            <a:r>
              <a:t/>
            </a:r>
          </a:p>
          <a:p xmlns:a="http://schemas.openxmlformats.org/drawingml/2006/main">
            <a:r>
              <a:t>Each decision changes the proposal for a clear reason. Together, they make the problem definition more precise and keep the project within a realistic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report has five linked aims covering clear customer orders, accurate checkout, preparation and collection, suitable access controls, and useful sales and service information. Paid orders enter the kitchen queue, each item retains its choices and charged price, and reports distinguish unpaid, cancelled and refunded orders.</a:t>
            </a:r>
          </a:p>
          <a:p xmlns:a="http://schemas.openxmlformats.org/drawingml/2006/main">
            <a:r>
              <a:t/>
            </a:r>
          </a:p>
          <a:p xmlns:a="http://schemas.openxmlformats.org/drawingml/2006/main">
            <a:r>
              <a:t>During the next stage of investigation, I will confirm menu and charging rules, cancellation and refund handling, required outputs and timing definitions with the owner and staff. I will also review the ordering process with customers before defining measurable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1015ed5a8c44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488f50ccc04c5e" /><Relationship Type="http://schemas.openxmlformats.org/officeDocument/2006/relationships/slideLayout" Target="/ppt/slideLayouts/slideLayout1.xml" Id="R71ebe364a6594b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ebe364a6594b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723cc3978d143de" /><Relationship Type="http://schemas.openxmlformats.org/officeDocument/2006/relationships/notesSlide" Target="/ppt/notesSlides/notesSlide1.xml" Id="R9bffa347842642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b1d39f6de948b3" /><Relationship Type="http://schemas.openxmlformats.org/officeDocument/2006/relationships/notesSlide" Target="/ppt/notesSlides/notesSlide2.xml" Id="R5f2aebce687e4c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accf65f6034f95" /><Relationship Type="http://schemas.openxmlformats.org/officeDocument/2006/relationships/notesSlide" Target="/ppt/notesSlides/notesSlide3.xml" Id="R2ad4b8c6a4ab4a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4f097987274835" /><Relationship Type="http://schemas.openxmlformats.org/officeDocument/2006/relationships/notesSlide" Target="/ppt/notesSlides/notesSlide4.xml" Id="R9ad638eef07540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8ffe5007fa4318" /><Relationship Type="http://schemas.openxmlformats.org/officeDocument/2006/relationships/notesSlide" Target="/ppt/notesSlides/notesSlide5.xml" Id="R0271dc47fa2247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81df3cb3fd4a84" /><Relationship Type="http://schemas.openxmlformats.org/officeDocument/2006/relationships/notesSlide" Target="/ppt/notesSlides/notesSlide6.xml" Id="R686e80391d154a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7f7b0cb8e14a5b" /><Relationship Type="http://schemas.openxmlformats.org/officeDocument/2006/relationships/notesSlide" Target="/ppt/notesSlides/notesSlide7.xml" Id="R70097a41540249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2486bec11c4fa0" /><Relationship Type="http://schemas.openxmlformats.org/officeDocument/2006/relationships/notesSlide" Target="/ppt/notesSlides/notesSlide8.xml" Id="R048d195db1424c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7bafe8bd6bb4092" /><Relationship Type="http://schemas.openxmlformats.org/officeDocument/2006/relationships/notesSlide" Target="/ppt/notesSlides/notesSlide9.xml" Id="R21c765898c6343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7d77e659b334cc5" /><Relationship Type="http://schemas.openxmlformats.org/officeDocument/2006/relationships/notesSlide" Target="/ppt/notesSlides/notesSlide10.xml" Id="Re5a3f36b24ac44b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UNIT 5  /  DISCUSSION">
            <a:extLst xmlns:a="http://schemas.openxmlformats.org/drawingml/2006/main">
              <a:ext uri="{FF2B5EF4-FFF2-40B4-BE49-F238E27FC236}">
                <a16:creationId xmlns:a16="http://schemas.microsoft.com/office/drawing/2014/main" id="{42B6393B-5411-47E0-A604-DC56E0F013D6}"/>
              </a:ext>
            </a:extLst>
          </p:cNvPr>
          <p:cNvSpPr>
            <a:spLocks xmlns:a="http://schemas.openxmlformats.org/drawingml/2006/main" noGrp="1"/>
          </p:cNvSpPr>
          <p:nvPr/>
        </p:nvSpPr>
        <p:spPr>
          <a:xfrm xmlns:a="http://schemas.openxmlformats.org/drawingml/2006/main">
            <a:off x="4572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B63D20"/>
                </a:solidFill>
                <a:latin typeface="Arial"/>
                <a:ea typeface="Arial"/>
                <a:cs typeface="Arial"/>
              </a:defRPr>
            </a:pPr>
            <a:r>
              <a:rPr sz="1650" b="1">
                <a:solidFill>
                  <a:srgbClr val="B63D20"/>
                </a:solidFill>
                <a:latin typeface="Arial"/>
                <a:ea typeface="Arial"/>
                <a:cs typeface="Arial"/>
              </a:rPr>
              <a:t>UNIT 5  /  DISCUSSION</a:t>
            </a:r>
          </a:p>
        </p:txBody>
      </p:sp>
      <p:sp>
        <p:nvSpPr>
          <p:cNvPr id="2" name="BITE ME BURGERS  /  PROJECT DISCUSSION">
            <a:extLst xmlns:a="http://schemas.openxmlformats.org/drawingml/2006/main">
              <a:ext uri="{FF2B5EF4-FFF2-40B4-BE49-F238E27FC236}">
                <a16:creationId xmlns:a16="http://schemas.microsoft.com/office/drawing/2014/main" id="{C9D316C0-8B51-487A-AA4C-2E753064F9B3}"/>
              </a:ext>
            </a:extLst>
          </p:cNvPr>
          <p:cNvSpPr>
            <a:spLocks xmlns:a="http://schemas.openxmlformats.org/drawingml/2006/main" noGrp="1"/>
          </p:cNvSpPr>
          <p:nvPr/>
        </p:nvSpPr>
        <p:spPr>
          <a:xfrm xmlns:a="http://schemas.openxmlformats.org/drawingml/2006/main">
            <a:off x="457200" y="63341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BITE ME BURGERS  /  PROJECT DISCUSSION</a:t>
            </a:r>
          </a:p>
        </p:txBody>
      </p:sp>
      <p:sp>
        <p:nvSpPr>
          <p:cNvPr id="3" name="01">
            <a:extLst xmlns:a="http://schemas.openxmlformats.org/drawingml/2006/main">
              <a:ext uri="{FF2B5EF4-FFF2-40B4-BE49-F238E27FC236}">
                <a16:creationId xmlns:a16="http://schemas.microsoft.com/office/drawing/2014/main" id="{42CEDCF8-9F01-4C05-AECD-C9964CA18E81}"/>
              </a:ext>
            </a:extLst>
          </p:cNvPr>
          <p:cNvSpPr>
            <a:spLocks xmlns:a="http://schemas.openxmlformats.org/drawingml/2006/main" noGrp="1"/>
          </p:cNvSpPr>
          <p:nvPr/>
        </p:nvSpPr>
        <p:spPr>
          <a:xfrm xmlns:a="http://schemas.openxmlformats.org/drawingml/2006/main">
            <a:off x="11239500" y="633412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01</a:t>
            </a:r>
          </a:p>
        </p:txBody>
      </p:sp>
      <p:sp>
        <p:nvSpPr>
          <p:cNvPr id="4" name="Bite Me&#10;Burgers">
            <a:extLst xmlns:a="http://schemas.openxmlformats.org/drawingml/2006/main">
              <a:ext uri="{FF2B5EF4-FFF2-40B4-BE49-F238E27FC236}">
                <a16:creationId xmlns:a16="http://schemas.microsoft.com/office/drawing/2014/main" id="{006763BF-004E-4F17-9D68-0A245F182EF3}"/>
              </a:ext>
            </a:extLst>
          </p:cNvPr>
          <p:cNvSpPr>
            <a:spLocks xmlns:a="http://schemas.openxmlformats.org/drawingml/2006/main" noGrp="1"/>
          </p:cNvSpPr>
          <p:nvPr/>
        </p:nvSpPr>
        <p:spPr>
          <a:xfrm xmlns:a="http://schemas.openxmlformats.org/drawingml/2006/main">
            <a:off x="457200" y="1838325"/>
            <a:ext cx="1085850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6600" b="1">
                <a:solidFill>
                  <a:srgbClr val="191919"/>
                </a:solidFill>
                <a:latin typeface="Arial"/>
                <a:ea typeface="Arial"/>
                <a:cs typeface="Arial"/>
              </a:defRPr>
            </a:pPr>
            <a:r>
              <a:rPr sz="6600" b="1">
                <a:solidFill>
                  <a:srgbClr val="191919"/>
                </a:solidFill>
                <a:latin typeface="Arial"/>
                <a:ea typeface="Arial"/>
                <a:cs typeface="Arial"/>
              </a:rPr>
              <a:t>Bite Me</a:t>
            </a:r>
          </a:p>
          <a:p xmlns:a="http://schemas.openxmlformats.org/drawingml/2006/main">
            <a:pPr>
              <a:buNone/>
              <a:defRPr sz="6600" b="1">
                <a:solidFill>
                  <a:srgbClr val="191919"/>
                </a:solidFill>
                <a:latin typeface="Arial"/>
                <a:ea typeface="Arial"/>
                <a:cs typeface="Arial"/>
              </a:defRPr>
            </a:pPr>
            <a:r>
              <a:rPr sz="6600" b="1">
                <a:solidFill>
                  <a:srgbClr val="191919"/>
                </a:solidFill>
                <a:latin typeface="Arial"/>
                <a:ea typeface="Arial"/>
                <a:cs typeface="Arial"/>
              </a:rPr>
              <a:t>Burgers</a:t>
            </a:r>
          </a:p>
        </p:txBody>
      </p:sp>
      <p:sp>
        <p:nvSpPr>
          <p:cNvPr id="5" name="Clear orders. Controlled checkout.&#10;A kitchen tha">
            <a:extLst xmlns:a="http://schemas.openxmlformats.org/drawingml/2006/main">
              <a:ext uri="{FF2B5EF4-FFF2-40B4-BE49-F238E27FC236}">
                <a16:creationId xmlns:a16="http://schemas.microsoft.com/office/drawing/2014/main" id="{8332E6D5-DC8E-45DB-BA44-6B79D246C31B}"/>
              </a:ext>
            </a:extLst>
          </p:cNvPr>
          <p:cNvSpPr>
            <a:spLocks xmlns:a="http://schemas.openxmlformats.org/drawingml/2006/main" noGrp="1"/>
          </p:cNvSpPr>
          <p:nvPr/>
        </p:nvSpPr>
        <p:spPr>
          <a:xfrm xmlns:a="http://schemas.openxmlformats.org/drawingml/2006/main">
            <a:off x="457200" y="43338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850" b="0">
                <a:solidFill>
                  <a:srgbClr val="191919"/>
                </a:solidFill>
                <a:latin typeface="Arial"/>
                <a:ea typeface="Arial"/>
                <a:cs typeface="Arial"/>
              </a:defRPr>
            </a:pPr>
            <a:r>
              <a:rPr sz="2850" b="0">
                <a:solidFill>
                  <a:srgbClr val="191919"/>
                </a:solidFill>
                <a:latin typeface="Arial"/>
                <a:ea typeface="Arial"/>
                <a:cs typeface="Arial"/>
              </a:rPr>
              <a:t>Clear orders. Controlled checkout.</a:t>
            </a:r>
          </a:p>
          <a:p xmlns:a="http://schemas.openxmlformats.org/drawingml/2006/main">
            <a:pPr>
              <a:buNone/>
              <a:defRPr sz="2850" b="0">
                <a:solidFill>
                  <a:srgbClr val="191919"/>
                </a:solidFill>
                <a:latin typeface="Arial"/>
                <a:ea typeface="Arial"/>
                <a:cs typeface="Arial"/>
              </a:defRPr>
            </a:pPr>
            <a:r>
              <a:rPr sz="2850" b="0">
                <a:solidFill>
                  <a:srgbClr val="191919"/>
                </a:solidFill>
                <a:latin typeface="Arial"/>
                <a:ea typeface="Arial"/>
                <a:cs typeface="Arial"/>
              </a:rPr>
              <a:t>A kitchen that knows what comes next.</a:t>
            </a:r>
          </a:p>
        </p:txBody>
      </p:sp>
    </p:spTree>
    <p:extLst>
      <p:ext uri="{BB962C8B-B14F-4D97-AF65-F5344CB8AC3E}">
        <p14:creationId xmlns:p14="http://schemas.microsoft.com/office/powerpoint/2010/main" val="18383628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01  /  CURRENT WORKING PRACTICES">
            <a:extLst xmlns:a="http://schemas.openxmlformats.org/drawingml/2006/main">
              <a:ext uri="{FF2B5EF4-FFF2-40B4-BE49-F238E27FC236}">
                <a16:creationId xmlns:a16="http://schemas.microsoft.com/office/drawing/2014/main" id="{EA33A482-52CD-4E71-BBDC-8A6C39B85ED1}"/>
              </a:ext>
            </a:extLst>
          </p:cNvPr>
          <p:cNvSpPr>
            <a:spLocks xmlns:a="http://schemas.openxmlformats.org/drawingml/2006/main" noGrp="1"/>
          </p:cNvSpPr>
          <p:nvPr/>
        </p:nvSpPr>
        <p:spPr>
          <a:xfrm xmlns:a="http://schemas.openxmlformats.org/drawingml/2006/main">
            <a:off x="4572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B63D20"/>
                </a:solidFill>
                <a:latin typeface="Arial"/>
                <a:ea typeface="Arial"/>
                <a:cs typeface="Arial"/>
              </a:defRPr>
            </a:pPr>
            <a:r>
              <a:rPr sz="1650" b="1">
                <a:solidFill>
                  <a:srgbClr val="B63D20"/>
                </a:solidFill>
                <a:latin typeface="Arial"/>
                <a:ea typeface="Arial"/>
                <a:cs typeface="Arial"/>
              </a:rPr>
              <a:t>01  /  CURRENT WORKING PRACTICES</a:t>
            </a:r>
          </a:p>
        </p:txBody>
      </p:sp>
      <p:sp>
        <p:nvSpPr>
          <p:cNvPr id="2" name="The order passes through several hands">
            <a:extLst xmlns:a="http://schemas.openxmlformats.org/drawingml/2006/main">
              <a:ext uri="{FF2B5EF4-FFF2-40B4-BE49-F238E27FC236}">
                <a16:creationId xmlns:a16="http://schemas.microsoft.com/office/drawing/2014/main" id="{7113FE51-EA2F-4272-8D21-210CB4557D75}"/>
              </a:ext>
            </a:extLst>
          </p:cNvPr>
          <p:cNvSpPr>
            <a:spLocks xmlns:a="http://schemas.openxmlformats.org/drawingml/2006/main" noGrp="1"/>
          </p:cNvSpPr>
          <p:nvPr/>
        </p:nvSpPr>
        <p:spPr>
          <a:xfrm xmlns:a="http://schemas.openxmlformats.org/drawingml/2006/main">
            <a:off x="457200" y="752475"/>
            <a:ext cx="11277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91919"/>
                </a:solidFill>
                <a:latin typeface="Arial"/>
                <a:ea typeface="Arial"/>
                <a:cs typeface="Arial"/>
              </a:defRPr>
            </a:pPr>
            <a:r>
              <a:rPr sz="3600" b="1">
                <a:solidFill>
                  <a:srgbClr val="191919"/>
                </a:solidFill>
                <a:latin typeface="Arial"/>
                <a:ea typeface="Arial"/>
                <a:cs typeface="Arial"/>
              </a:rPr>
              <a:t>The order passes through several hands</a:t>
            </a:r>
          </a:p>
        </p:txBody>
      </p:sp>
      <p:sp>
        <p:nvSpPr>
          <p:cNvPr id="3" name="BITE ME BURGERS  /  PROJECT DISCUSSION">
            <a:extLst xmlns:a="http://schemas.openxmlformats.org/drawingml/2006/main">
              <a:ext uri="{FF2B5EF4-FFF2-40B4-BE49-F238E27FC236}">
                <a16:creationId xmlns:a16="http://schemas.microsoft.com/office/drawing/2014/main" id="{00D8413E-D3DC-4473-A8AA-2E108C8D0A12}"/>
              </a:ext>
            </a:extLst>
          </p:cNvPr>
          <p:cNvSpPr>
            <a:spLocks xmlns:a="http://schemas.openxmlformats.org/drawingml/2006/main" noGrp="1"/>
          </p:cNvSpPr>
          <p:nvPr/>
        </p:nvSpPr>
        <p:spPr>
          <a:xfrm xmlns:a="http://schemas.openxmlformats.org/drawingml/2006/main">
            <a:off x="457200" y="63341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BITE ME BURGERS  /  PROJECT DISCUSSION</a:t>
            </a:r>
          </a:p>
        </p:txBody>
      </p:sp>
      <p:sp>
        <p:nvSpPr>
          <p:cNvPr id="4" name="02">
            <a:extLst xmlns:a="http://schemas.openxmlformats.org/drawingml/2006/main">
              <a:ext uri="{FF2B5EF4-FFF2-40B4-BE49-F238E27FC236}">
                <a16:creationId xmlns:a16="http://schemas.microsoft.com/office/drawing/2014/main" id="{EE2237BD-720E-48CD-B971-101339E5360B}"/>
              </a:ext>
            </a:extLst>
          </p:cNvPr>
          <p:cNvSpPr>
            <a:spLocks xmlns:a="http://schemas.openxmlformats.org/drawingml/2006/main" noGrp="1"/>
          </p:cNvSpPr>
          <p:nvPr/>
        </p:nvSpPr>
        <p:spPr>
          <a:xfrm xmlns:a="http://schemas.openxmlformats.org/drawingml/2006/main">
            <a:off x="11239500" y="633412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02</a:t>
            </a:r>
          </a:p>
        </p:txBody>
      </p:sp>
      <p:sp>
        <p:nvSpPr>
          <p:cNvPr id="5" name="A mobile burger business serving customers at lo">
            <a:extLst xmlns:a="http://schemas.openxmlformats.org/drawingml/2006/main">
              <a:ext uri="{FF2B5EF4-FFF2-40B4-BE49-F238E27FC236}">
                <a16:creationId xmlns:a16="http://schemas.microsoft.com/office/drawing/2014/main" id="{06E7A959-C262-4739-8289-6E427018E036}"/>
              </a:ext>
            </a:extLst>
          </p:cNvPr>
          <p:cNvSpPr>
            <a:spLocks xmlns:a="http://schemas.openxmlformats.org/drawingml/2006/main" noGrp="1"/>
          </p:cNvSpPr>
          <p:nvPr/>
        </p:nvSpPr>
        <p:spPr>
          <a:xfrm xmlns:a="http://schemas.openxmlformats.org/drawingml/2006/main">
            <a:off x="457200" y="1809750"/>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A mobile burger business serving customers at local events and pitches.</a:t>
            </a:r>
          </a:p>
        </p:txBody>
      </p:sp>
      <p:graphicFrame>
        <p:nvGraphicFramePr>
          <p:cNvPr id="14" name=""/>
          <p:cNvGraphicFramePr/>
          <p:nvPr/>
        </p:nvGraphicFramePr>
        <p:xfrm>
          <a:off xmlns:a="http://schemas.openxmlformats.org/drawingml/2006/main" x="457200" y="2419350"/>
          <a:ext xmlns:a="http://schemas.openxmlformats.org/drawingml/2006/main" cx="11277600" cy="3429000"/>
        </p:xfrm>
        <a:graphic xmlns:a="http://schemas.openxmlformats.org/drawingml/2006/main">
          <a:graphicData uri="http://schemas.openxmlformats.org/drawingml/2006/table">
            <a:tbl>
              <a:tblPr/>
              <a:tblGrid>
                <a:gridCol w="2476500"/>
                <a:gridCol w="4800600"/>
                <a:gridCol w="4000500"/>
              </a:tblGrid>
              <a:tr h="685800">
                <a:tc>
                  <a:txBody>
                    <a:bodyPr/>
                    <a:lstStyle/>
                    <a:p>
                      <a:r>
                        <a:rPr sz="1875" b="1">
                          <a:solidFill>
                            <a:srgbClr val="191919"/>
                          </a:solidFill>
                          <a:latin typeface="Arial"/>
                          <a:ea typeface="Arial"/>
                          <a:cs typeface="Arial"/>
                        </a:rPr>
                        <a:t>Who</a:t>
                      </a:r>
                    </a:p>
                  </a:txBody>
                  <a:tcPr marL="133350" marR="133350" marT="114300" marB="114300" anchor="ctr">
                    <a:solidFill>
                      <a:srgbClr val="EDEDED"/>
                    </a:solidFill>
                  </a:tcPr>
                </a:tc>
                <a:tc>
                  <a:txBody>
                    <a:bodyPr/>
                    <a:lstStyle/>
                    <a:p>
                      <a:r>
                        <a:rPr sz="1875" b="1">
                          <a:solidFill>
                            <a:srgbClr val="191919"/>
                          </a:solidFill>
                          <a:latin typeface="Arial"/>
                          <a:ea typeface="Arial"/>
                          <a:cs typeface="Arial"/>
                        </a:rPr>
                        <a:t>Current task</a:t>
                      </a:r>
                    </a:p>
                  </a:txBody>
                  <a:tcPr marL="133350" marR="133350" marT="114300" marB="114300" anchor="ctr">
                    <a:solidFill>
                      <a:srgbClr val="EDEDED"/>
                    </a:solidFill>
                  </a:tcPr>
                </a:tc>
                <a:tc>
                  <a:txBody>
                    <a:bodyPr/>
                    <a:lstStyle/>
                    <a:p>
                      <a:r>
                        <a:rPr sz="1875" b="1">
                          <a:solidFill>
                            <a:srgbClr val="191919"/>
                          </a:solidFill>
                          <a:latin typeface="Arial"/>
                          <a:ea typeface="Arial"/>
                          <a:cs typeface="Arial"/>
                        </a:rPr>
                        <a:t>Record or output</a:t>
                      </a:r>
                    </a:p>
                  </a:txBody>
                  <a:tcPr marL="133350" marR="133350" marT="114300" marB="114300" anchor="ctr">
                    <a:solidFill>
                      <a:srgbClr val="EDEDED"/>
                    </a:solidFill>
                  </a:tcPr>
                </a:tc>
              </a:tr>
              <a:tr h="685800">
                <a:tc>
                  <a:txBody>
                    <a:bodyPr/>
                    <a:lstStyle/>
                    <a:p>
                      <a:r>
                        <a:rPr sz="1875" b="0">
                          <a:solidFill>
                            <a:srgbClr val="191919"/>
                          </a:solidFill>
                          <a:latin typeface="Arial"/>
                          <a:ea typeface="Arial"/>
                          <a:cs typeface="Arial"/>
                        </a:rPr>
                        <a:t>Counter staff</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Take the order and calculate the price</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Handwritten ticket</a:t>
                      </a:r>
                    </a:p>
                  </a:txBody>
                  <a:tcPr marL="133350" marR="133350" marT="114300" marB="114300" anchor="ctr">
                    <a:solidFill>
                      <a:srgbClr val="FFFFFF"/>
                    </a:solidFill>
                  </a:tcPr>
                </a:tc>
              </a:tr>
              <a:tr h="685800">
                <a:tc>
                  <a:txBody>
                    <a:bodyPr/>
                    <a:lstStyle/>
                    <a:p>
                      <a:r>
                        <a:rPr sz="1875" b="0">
                          <a:solidFill>
                            <a:srgbClr val="191919"/>
                          </a:solidFill>
                          <a:latin typeface="Arial"/>
                          <a:ea typeface="Arial"/>
                          <a:cs typeface="Arial"/>
                        </a:rPr>
                        <a:t>Counter staff</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Take payment and pass on the order</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Ticket handed to kitchen</a:t>
                      </a:r>
                    </a:p>
                  </a:txBody>
                  <a:tcPr marL="133350" marR="133350" marT="114300" marB="114300" anchor="ctr">
                    <a:solidFill>
                      <a:srgbClr val="FFFFFF"/>
                    </a:solidFill>
                  </a:tcPr>
                </a:tc>
              </a:tr>
              <a:tr h="685800">
                <a:tc>
                  <a:txBody>
                    <a:bodyPr/>
                    <a:lstStyle/>
                    <a:p>
                      <a:r>
                        <a:rPr sz="1875" b="0">
                          <a:solidFill>
                            <a:srgbClr val="191919"/>
                          </a:solidFill>
                          <a:latin typeface="Arial"/>
                          <a:ea typeface="Arial"/>
                          <a:cs typeface="Arial"/>
                        </a:rPr>
                        <a:t>Kitchen staff</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Prepare food and call out completion</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Paper queue + verbal updates</a:t>
                      </a:r>
                    </a:p>
                  </a:txBody>
                  <a:tcPr marL="133350" marR="133350" marT="114300" marB="114300" anchor="ctr">
                    <a:solidFill>
                      <a:srgbClr val="FFFFFF"/>
                    </a:solidFill>
                  </a:tcPr>
                </a:tc>
              </a:tr>
              <a:tr h="685800">
                <a:tc>
                  <a:txBody>
                    <a:bodyPr/>
                    <a:lstStyle/>
                    <a:p>
                      <a:r>
                        <a:rPr sz="1875" b="0">
                          <a:solidFill>
                            <a:srgbClr val="191919"/>
                          </a:solidFill>
                          <a:latin typeface="Arial"/>
                          <a:ea typeface="Arial"/>
                          <a:cs typeface="Arial"/>
                        </a:rPr>
                        <a:t>Owner-manager</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Review the trading session</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Payment totals + retained tickets</a:t>
                      </a:r>
                    </a:p>
                  </a:txBody>
                  <a:tcPr marL="133350" marR="133350" marT="114300" marB="114300" anchor="ctr">
                    <a:solidFill>
                      <a:srgbClr val="FFFFFF"/>
                    </a:solidFill>
                  </a:tcPr>
                </a:tc>
              </a:tr>
            </a:tbl>
          </a:graphicData>
        </a:graphic>
      </p:graphicFrame>
    </p:spTree>
    <p:extLst>
      <p:ext uri="{BB962C8B-B14F-4D97-AF65-F5344CB8AC3E}">
        <p14:creationId xmlns:p14="http://schemas.microsoft.com/office/powerpoint/2010/main" val="17117865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02  /  THE PROBLEM">
            <a:extLst xmlns:a="http://schemas.openxmlformats.org/drawingml/2006/main">
              <a:ext uri="{FF2B5EF4-FFF2-40B4-BE49-F238E27FC236}">
                <a16:creationId xmlns:a16="http://schemas.microsoft.com/office/drawing/2014/main" id="{69E88E77-8E8D-4EF0-9990-7E6815CD20CE}"/>
              </a:ext>
            </a:extLst>
          </p:cNvPr>
          <p:cNvSpPr>
            <a:spLocks xmlns:a="http://schemas.openxmlformats.org/drawingml/2006/main" noGrp="1"/>
          </p:cNvSpPr>
          <p:nvPr/>
        </p:nvSpPr>
        <p:spPr>
          <a:xfrm xmlns:a="http://schemas.openxmlformats.org/drawingml/2006/main">
            <a:off x="4572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B63D20"/>
                </a:solidFill>
                <a:latin typeface="Arial"/>
                <a:ea typeface="Arial"/>
                <a:cs typeface="Arial"/>
              </a:defRPr>
            </a:pPr>
            <a:r>
              <a:rPr sz="1650" b="1">
                <a:solidFill>
                  <a:srgbClr val="B63D20"/>
                </a:solidFill>
                <a:latin typeface="Arial"/>
                <a:ea typeface="Arial"/>
                <a:cs typeface="Arial"/>
              </a:rPr>
              <a:t>02  /  THE PROBLEM</a:t>
            </a:r>
          </a:p>
        </p:txBody>
      </p:sp>
      <p:sp>
        <p:nvSpPr>
          <p:cNvPr id="2" name="An unclear order affects the whole service">
            <a:extLst xmlns:a="http://schemas.openxmlformats.org/drawingml/2006/main">
              <a:ext uri="{FF2B5EF4-FFF2-40B4-BE49-F238E27FC236}">
                <a16:creationId xmlns:a16="http://schemas.microsoft.com/office/drawing/2014/main" id="{4DFFD344-8509-46C1-989E-79A5513D98A3}"/>
              </a:ext>
            </a:extLst>
          </p:cNvPr>
          <p:cNvSpPr>
            <a:spLocks xmlns:a="http://schemas.openxmlformats.org/drawingml/2006/main" noGrp="1"/>
          </p:cNvSpPr>
          <p:nvPr/>
        </p:nvSpPr>
        <p:spPr>
          <a:xfrm xmlns:a="http://schemas.openxmlformats.org/drawingml/2006/main">
            <a:off x="457200" y="752475"/>
            <a:ext cx="11277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91919"/>
                </a:solidFill>
                <a:latin typeface="Arial"/>
                <a:ea typeface="Arial"/>
                <a:cs typeface="Arial"/>
              </a:defRPr>
            </a:pPr>
            <a:r>
              <a:rPr sz="3600" b="1">
                <a:solidFill>
                  <a:srgbClr val="191919"/>
                </a:solidFill>
                <a:latin typeface="Arial"/>
                <a:ea typeface="Arial"/>
                <a:cs typeface="Arial"/>
              </a:rPr>
              <a:t>An unclear order affects the whole service</a:t>
            </a:r>
          </a:p>
        </p:txBody>
      </p:sp>
      <p:sp>
        <p:nvSpPr>
          <p:cNvPr id="3" name="BITE ME BURGERS  /  PROJECT DISCUSSION">
            <a:extLst xmlns:a="http://schemas.openxmlformats.org/drawingml/2006/main">
              <a:ext uri="{FF2B5EF4-FFF2-40B4-BE49-F238E27FC236}">
                <a16:creationId xmlns:a16="http://schemas.microsoft.com/office/drawing/2014/main" id="{9662F592-4ACB-4DD3-8C7C-A7BBB5FEE5F8}"/>
              </a:ext>
            </a:extLst>
          </p:cNvPr>
          <p:cNvSpPr>
            <a:spLocks xmlns:a="http://schemas.openxmlformats.org/drawingml/2006/main" noGrp="1"/>
          </p:cNvSpPr>
          <p:nvPr/>
        </p:nvSpPr>
        <p:spPr>
          <a:xfrm xmlns:a="http://schemas.openxmlformats.org/drawingml/2006/main">
            <a:off x="457200" y="63341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BITE ME BURGERS  /  PROJECT DISCUSSION</a:t>
            </a:r>
          </a:p>
        </p:txBody>
      </p:sp>
      <p:sp>
        <p:nvSpPr>
          <p:cNvPr id="4" name="03">
            <a:extLst xmlns:a="http://schemas.openxmlformats.org/drawingml/2006/main">
              <a:ext uri="{FF2B5EF4-FFF2-40B4-BE49-F238E27FC236}">
                <a16:creationId xmlns:a16="http://schemas.microsoft.com/office/drawing/2014/main" id="{37667999-6F7F-4A20-B5B2-B2E1B679AB53}"/>
              </a:ext>
            </a:extLst>
          </p:cNvPr>
          <p:cNvSpPr>
            <a:spLocks xmlns:a="http://schemas.openxmlformats.org/drawingml/2006/main" noGrp="1"/>
          </p:cNvSpPr>
          <p:nvPr/>
        </p:nvSpPr>
        <p:spPr>
          <a:xfrm xmlns:a="http://schemas.openxmlformats.org/drawingml/2006/main">
            <a:off x="11239500" y="633412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03</a:t>
            </a:r>
          </a:p>
        </p:txBody>
      </p:sp>
      <p:sp>
        <p:nvSpPr>
          <p:cNvPr id="5" name="Two burgers. One note saying “no cheese”. Which ">
            <a:extLst xmlns:a="http://schemas.openxmlformats.org/drawingml/2006/main">
              <a:ext uri="{FF2B5EF4-FFF2-40B4-BE49-F238E27FC236}">
                <a16:creationId xmlns:a16="http://schemas.microsoft.com/office/drawing/2014/main" id="{6E6175AD-8F21-4F20-BAB8-6DE05D97F4A2}"/>
              </a:ext>
            </a:extLst>
          </p:cNvPr>
          <p:cNvSpPr>
            <a:spLocks xmlns:a="http://schemas.openxmlformats.org/drawingml/2006/main" noGrp="1"/>
          </p:cNvSpPr>
          <p:nvPr/>
        </p:nvSpPr>
        <p:spPr>
          <a:xfrm xmlns:a="http://schemas.openxmlformats.org/drawingml/2006/main">
            <a:off x="457200" y="1809750"/>
            <a:ext cx="1127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91919"/>
                </a:solidFill>
                <a:latin typeface="Arial"/>
                <a:ea typeface="Arial"/>
                <a:cs typeface="Arial"/>
              </a:defRPr>
            </a:pPr>
            <a:r>
              <a:rPr sz="2400" b="0">
                <a:solidFill>
                  <a:srgbClr val="191919"/>
                </a:solidFill>
                <a:latin typeface="Arial"/>
                <a:ea typeface="Arial"/>
                <a:cs typeface="Arial"/>
              </a:rPr>
              <a:t>Two burgers. One note saying “no cheese”. Which burger does it mean?</a:t>
            </a:r>
          </a:p>
        </p:txBody>
      </p:sp>
      <p:sp>
        <p:nvSpPr>
          <p:cNvPr id="6" name="Order accuracy">
            <a:extLst xmlns:a="http://schemas.openxmlformats.org/drawingml/2006/main">
              <a:ext uri="{FF2B5EF4-FFF2-40B4-BE49-F238E27FC236}">
                <a16:creationId xmlns:a16="http://schemas.microsoft.com/office/drawing/2014/main" id="{9E6B835A-DB14-4586-982A-5FACEF79329A}"/>
              </a:ext>
            </a:extLst>
          </p:cNvPr>
          <p:cNvSpPr>
            <a:spLocks xmlns:a="http://schemas.openxmlformats.org/drawingml/2006/main" noGrp="1"/>
          </p:cNvSpPr>
          <p:nvPr/>
        </p:nvSpPr>
        <p:spPr>
          <a:xfrm xmlns:a="http://schemas.openxmlformats.org/drawingml/2006/main">
            <a:off x="457200" y="3086100"/>
            <a:ext cx="350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Order accuracy</a:t>
            </a:r>
          </a:p>
        </p:txBody>
      </p:sp>
      <p:sp>
        <p:nvSpPr>
          <p:cNvPr id="7" name="Unclear changes can lead to clarification, mista">
            <a:extLst xmlns:a="http://schemas.openxmlformats.org/drawingml/2006/main">
              <a:ext uri="{FF2B5EF4-FFF2-40B4-BE49-F238E27FC236}">
                <a16:creationId xmlns:a16="http://schemas.microsoft.com/office/drawing/2014/main" id="{EAA50E85-39F8-46C6-98C5-49694A8605F2}"/>
              </a:ext>
            </a:extLst>
          </p:cNvPr>
          <p:cNvSpPr>
            <a:spLocks xmlns:a="http://schemas.openxmlformats.org/drawingml/2006/main" noGrp="1"/>
          </p:cNvSpPr>
          <p:nvPr/>
        </p:nvSpPr>
        <p:spPr>
          <a:xfrm xmlns:a="http://schemas.openxmlformats.org/drawingml/2006/main">
            <a:off x="457200" y="3886200"/>
            <a:ext cx="35052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Unclear changes can lead to clarification, mistakes or remakes.</a:t>
            </a:r>
          </a:p>
        </p:txBody>
      </p:sp>
      <p:sp>
        <p:nvSpPr>
          <p:cNvPr id="8" name="Service visibility">
            <a:extLst xmlns:a="http://schemas.openxmlformats.org/drawingml/2006/main">
              <a:ext uri="{FF2B5EF4-FFF2-40B4-BE49-F238E27FC236}">
                <a16:creationId xmlns:a16="http://schemas.microsoft.com/office/drawing/2014/main" id="{7C514F43-36CE-42F3-B3AD-DF1A1CC97611}"/>
              </a:ext>
            </a:extLst>
          </p:cNvPr>
          <p:cNvSpPr>
            <a:spLocks xmlns:a="http://schemas.openxmlformats.org/drawingml/2006/main" noGrp="1"/>
          </p:cNvSpPr>
          <p:nvPr/>
        </p:nvSpPr>
        <p:spPr>
          <a:xfrm xmlns:a="http://schemas.openxmlformats.org/drawingml/2006/main">
            <a:off x="4343400" y="3086100"/>
            <a:ext cx="350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Service visibility</a:t>
            </a:r>
          </a:p>
        </p:txBody>
      </p:sp>
      <p:sp>
        <p:nvSpPr>
          <p:cNvPr id="9" name="Counter staff interrupt preparation to check ord">
            <a:extLst xmlns:a="http://schemas.openxmlformats.org/drawingml/2006/main">
              <a:ext uri="{FF2B5EF4-FFF2-40B4-BE49-F238E27FC236}">
                <a16:creationId xmlns:a16="http://schemas.microsoft.com/office/drawing/2014/main" id="{6AC6209B-505B-4E16-825B-5C6841648DDC}"/>
              </a:ext>
            </a:extLst>
          </p:cNvPr>
          <p:cNvSpPr>
            <a:spLocks xmlns:a="http://schemas.openxmlformats.org/drawingml/2006/main" noGrp="1"/>
          </p:cNvSpPr>
          <p:nvPr/>
        </p:nvSpPr>
        <p:spPr>
          <a:xfrm xmlns:a="http://schemas.openxmlformats.org/drawingml/2006/main">
            <a:off x="4343400" y="3886200"/>
            <a:ext cx="35052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Counter staff interrupt preparation to check order progress.</a:t>
            </a:r>
          </a:p>
        </p:txBody>
      </p:sp>
      <p:sp>
        <p:nvSpPr>
          <p:cNvPr id="10" name="Management insight">
            <a:extLst xmlns:a="http://schemas.openxmlformats.org/drawingml/2006/main">
              <a:ext uri="{FF2B5EF4-FFF2-40B4-BE49-F238E27FC236}">
                <a16:creationId xmlns:a16="http://schemas.microsoft.com/office/drawing/2014/main" id="{9C2A96C2-BAB6-4980-BD36-7ADC384162F7}"/>
              </a:ext>
            </a:extLst>
          </p:cNvPr>
          <p:cNvSpPr>
            <a:spLocks xmlns:a="http://schemas.openxmlformats.org/drawingml/2006/main" noGrp="1"/>
          </p:cNvSpPr>
          <p:nvPr/>
        </p:nvSpPr>
        <p:spPr>
          <a:xfrm xmlns:a="http://schemas.openxmlformats.org/drawingml/2006/main">
            <a:off x="8229600" y="3086100"/>
            <a:ext cx="350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Management insight</a:t>
            </a:r>
          </a:p>
        </p:txBody>
      </p:sp>
      <p:sp>
        <p:nvSpPr>
          <p:cNvPr id="11" name="Totals alone do not explain product demand or se">
            <a:extLst xmlns:a="http://schemas.openxmlformats.org/drawingml/2006/main">
              <a:ext uri="{FF2B5EF4-FFF2-40B4-BE49-F238E27FC236}">
                <a16:creationId xmlns:a16="http://schemas.microsoft.com/office/drawing/2014/main" id="{4D65EE82-9606-4A94-8914-D633EE1CCCF2}"/>
              </a:ext>
            </a:extLst>
          </p:cNvPr>
          <p:cNvSpPr>
            <a:spLocks xmlns:a="http://schemas.openxmlformats.org/drawingml/2006/main" noGrp="1"/>
          </p:cNvSpPr>
          <p:nvPr/>
        </p:nvSpPr>
        <p:spPr>
          <a:xfrm xmlns:a="http://schemas.openxmlformats.org/drawingml/2006/main">
            <a:off x="8229600" y="3886200"/>
            <a:ext cx="35052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Totals alone do not explain product demand or service delays.</a:t>
            </a:r>
          </a:p>
        </p:txBody>
      </p:sp>
    </p:spTree>
    <p:extLst>
      <p:ext uri="{BB962C8B-B14F-4D97-AF65-F5344CB8AC3E}">
        <p14:creationId xmlns:p14="http://schemas.microsoft.com/office/powerpoint/2010/main" val="12637858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03  /  INITIAL BROAD AIMS">
            <a:extLst xmlns:a="http://schemas.openxmlformats.org/drawingml/2006/main">
              <a:ext uri="{FF2B5EF4-FFF2-40B4-BE49-F238E27FC236}">
                <a16:creationId xmlns:a16="http://schemas.microsoft.com/office/drawing/2014/main" id="{612DB417-F989-4DBF-99CB-DB1491288158}"/>
              </a:ext>
            </a:extLst>
          </p:cNvPr>
          <p:cNvSpPr>
            <a:spLocks xmlns:a="http://schemas.openxmlformats.org/drawingml/2006/main" noGrp="1"/>
          </p:cNvSpPr>
          <p:nvPr/>
        </p:nvSpPr>
        <p:spPr>
          <a:xfrm xmlns:a="http://schemas.openxmlformats.org/drawingml/2006/main">
            <a:off x="4572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B63D20"/>
                </a:solidFill>
                <a:latin typeface="Arial"/>
                <a:ea typeface="Arial"/>
                <a:cs typeface="Arial"/>
              </a:defRPr>
            </a:pPr>
            <a:r>
              <a:rPr sz="1650" b="1">
                <a:solidFill>
                  <a:srgbClr val="B63D20"/>
                </a:solidFill>
                <a:latin typeface="Arial"/>
                <a:ea typeface="Arial"/>
                <a:cs typeface="Arial"/>
              </a:rPr>
              <a:t>03  /  INITIAL BROAD AIMS</a:t>
            </a:r>
          </a:p>
        </p:txBody>
      </p:sp>
      <p:sp>
        <p:nvSpPr>
          <p:cNvPr id="2" name="My starting aims follow the order">
            <a:extLst xmlns:a="http://schemas.openxmlformats.org/drawingml/2006/main">
              <a:ext uri="{FF2B5EF4-FFF2-40B4-BE49-F238E27FC236}">
                <a16:creationId xmlns:a16="http://schemas.microsoft.com/office/drawing/2014/main" id="{117C8D24-318F-4F78-988B-3ADCB99B6671}"/>
              </a:ext>
            </a:extLst>
          </p:cNvPr>
          <p:cNvSpPr>
            <a:spLocks xmlns:a="http://schemas.openxmlformats.org/drawingml/2006/main" noGrp="1"/>
          </p:cNvSpPr>
          <p:nvPr/>
        </p:nvSpPr>
        <p:spPr>
          <a:xfrm xmlns:a="http://schemas.openxmlformats.org/drawingml/2006/main">
            <a:off x="457200" y="752475"/>
            <a:ext cx="11277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91919"/>
                </a:solidFill>
                <a:latin typeface="Arial"/>
                <a:ea typeface="Arial"/>
                <a:cs typeface="Arial"/>
              </a:defRPr>
            </a:pPr>
            <a:r>
              <a:rPr sz="3600" b="1">
                <a:solidFill>
                  <a:srgbClr val="191919"/>
                </a:solidFill>
                <a:latin typeface="Arial"/>
                <a:ea typeface="Arial"/>
                <a:cs typeface="Arial"/>
              </a:rPr>
              <a:t>My starting aims follow the order</a:t>
            </a:r>
          </a:p>
        </p:txBody>
      </p:sp>
      <p:sp>
        <p:nvSpPr>
          <p:cNvPr id="3" name="BITE ME BURGERS  /  PROJECT DISCUSSION">
            <a:extLst xmlns:a="http://schemas.openxmlformats.org/drawingml/2006/main">
              <a:ext uri="{FF2B5EF4-FFF2-40B4-BE49-F238E27FC236}">
                <a16:creationId xmlns:a16="http://schemas.microsoft.com/office/drawing/2014/main" id="{1450EC18-C3EC-4FBF-9C7D-7B75419C5AFE}"/>
              </a:ext>
            </a:extLst>
          </p:cNvPr>
          <p:cNvSpPr>
            <a:spLocks xmlns:a="http://schemas.openxmlformats.org/drawingml/2006/main" noGrp="1"/>
          </p:cNvSpPr>
          <p:nvPr/>
        </p:nvSpPr>
        <p:spPr>
          <a:xfrm xmlns:a="http://schemas.openxmlformats.org/drawingml/2006/main">
            <a:off x="457200" y="63341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BITE ME BURGERS  /  PROJECT DISCUSSION</a:t>
            </a:r>
          </a:p>
        </p:txBody>
      </p:sp>
      <p:sp>
        <p:nvSpPr>
          <p:cNvPr id="4" name="04">
            <a:extLst xmlns:a="http://schemas.openxmlformats.org/drawingml/2006/main">
              <a:ext uri="{FF2B5EF4-FFF2-40B4-BE49-F238E27FC236}">
                <a16:creationId xmlns:a16="http://schemas.microsoft.com/office/drawing/2014/main" id="{C2F1BF66-5991-4B43-9BA9-3E5CE79A9549}"/>
              </a:ext>
            </a:extLst>
          </p:cNvPr>
          <p:cNvSpPr>
            <a:spLocks xmlns:a="http://schemas.openxmlformats.org/drawingml/2006/main" noGrp="1"/>
          </p:cNvSpPr>
          <p:nvPr/>
        </p:nvSpPr>
        <p:spPr>
          <a:xfrm xmlns:a="http://schemas.openxmlformats.org/drawingml/2006/main">
            <a:off x="11239500" y="633412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04</a:t>
            </a:r>
          </a:p>
        </p:txBody>
      </p:sp>
      <p:sp>
        <p:nvSpPr>
          <p:cNvPr id="5" name="Customer ordering">
            <a:extLst xmlns:a="http://schemas.openxmlformats.org/drawingml/2006/main">
              <a:ext uri="{FF2B5EF4-FFF2-40B4-BE49-F238E27FC236}">
                <a16:creationId xmlns:a16="http://schemas.microsoft.com/office/drawing/2014/main" id="{11D53241-E344-4121-8594-8BD33DA30EE8}"/>
              </a:ext>
            </a:extLst>
          </p:cNvPr>
          <p:cNvSpPr>
            <a:spLocks xmlns:a="http://schemas.openxmlformats.org/drawingml/2006/main" noGrp="1"/>
          </p:cNvSpPr>
          <p:nvPr/>
        </p:nvSpPr>
        <p:spPr>
          <a:xfrm xmlns:a="http://schemas.openxmlformats.org/drawingml/2006/main">
            <a:off x="457200" y="2857500"/>
            <a:ext cx="350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Customer ordering</a:t>
            </a:r>
          </a:p>
        </p:txBody>
      </p:sp>
      <p:sp>
        <p:nvSpPr>
          <p:cNvPr id="6" name="Browse the menu, edit a basket and check the ite">
            <a:extLst xmlns:a="http://schemas.openxmlformats.org/drawingml/2006/main">
              <a:ext uri="{FF2B5EF4-FFF2-40B4-BE49-F238E27FC236}">
                <a16:creationId xmlns:a16="http://schemas.microsoft.com/office/drawing/2014/main" id="{87E672A3-F208-4461-A89B-AAA012410690}"/>
              </a:ext>
            </a:extLst>
          </p:cNvPr>
          <p:cNvSpPr>
            <a:spLocks xmlns:a="http://schemas.openxmlformats.org/drawingml/2006/main" noGrp="1"/>
          </p:cNvSpPr>
          <p:nvPr/>
        </p:nvSpPr>
        <p:spPr>
          <a:xfrm xmlns:a="http://schemas.openxmlformats.org/drawingml/2006/main">
            <a:off x="457200" y="3657600"/>
            <a:ext cx="35052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Browse the menu, edit a basket and check the itemised total.</a:t>
            </a:r>
          </a:p>
        </p:txBody>
      </p:sp>
      <p:sp>
        <p:nvSpPr>
          <p:cNvPr id="7" name="Kitchen support">
            <a:extLst xmlns:a="http://schemas.openxmlformats.org/drawingml/2006/main">
              <a:ext uri="{FF2B5EF4-FFF2-40B4-BE49-F238E27FC236}">
                <a16:creationId xmlns:a16="http://schemas.microsoft.com/office/drawing/2014/main" id="{7FACB525-8A27-4246-A483-817CBCB49094}"/>
              </a:ext>
            </a:extLst>
          </p:cNvPr>
          <p:cNvSpPr>
            <a:spLocks xmlns:a="http://schemas.openxmlformats.org/drawingml/2006/main" noGrp="1"/>
          </p:cNvSpPr>
          <p:nvPr/>
        </p:nvSpPr>
        <p:spPr>
          <a:xfrm xmlns:a="http://schemas.openxmlformats.org/drawingml/2006/main">
            <a:off x="4343400" y="2857500"/>
            <a:ext cx="350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Kitchen support</a:t>
            </a:r>
          </a:p>
        </p:txBody>
      </p:sp>
      <p:sp>
        <p:nvSpPr>
          <p:cNvPr id="8" name="Receive confirmed orders and track preparation a">
            <a:extLst xmlns:a="http://schemas.openxmlformats.org/drawingml/2006/main">
              <a:ext uri="{FF2B5EF4-FFF2-40B4-BE49-F238E27FC236}">
                <a16:creationId xmlns:a16="http://schemas.microsoft.com/office/drawing/2014/main" id="{B143DC4D-FFB5-435F-A8CA-52A467E36666}"/>
              </a:ext>
            </a:extLst>
          </p:cNvPr>
          <p:cNvSpPr>
            <a:spLocks xmlns:a="http://schemas.openxmlformats.org/drawingml/2006/main" noGrp="1"/>
          </p:cNvSpPr>
          <p:nvPr/>
        </p:nvSpPr>
        <p:spPr>
          <a:xfrm xmlns:a="http://schemas.openxmlformats.org/drawingml/2006/main">
            <a:off x="4343400" y="3657600"/>
            <a:ext cx="35052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Receive confirmed orders and track preparation and collection.</a:t>
            </a:r>
          </a:p>
        </p:txBody>
      </p:sp>
      <p:sp>
        <p:nvSpPr>
          <p:cNvPr id="9" name="Trading analysis">
            <a:extLst xmlns:a="http://schemas.openxmlformats.org/drawingml/2006/main">
              <a:ext uri="{FF2B5EF4-FFF2-40B4-BE49-F238E27FC236}">
                <a16:creationId xmlns:a16="http://schemas.microsoft.com/office/drawing/2014/main" id="{6C930F8C-CA87-46BA-A88E-2C9E57F24CDD}"/>
              </a:ext>
            </a:extLst>
          </p:cNvPr>
          <p:cNvSpPr>
            <a:spLocks xmlns:a="http://schemas.openxmlformats.org/drawingml/2006/main" noGrp="1"/>
          </p:cNvSpPr>
          <p:nvPr/>
        </p:nvSpPr>
        <p:spPr>
          <a:xfrm xmlns:a="http://schemas.openxmlformats.org/drawingml/2006/main">
            <a:off x="8229600" y="2857500"/>
            <a:ext cx="350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Trading analysis</a:t>
            </a:r>
          </a:p>
        </p:txBody>
      </p:sp>
      <p:sp>
        <p:nvSpPr>
          <p:cNvPr id="10" name="Compare products, order values, service times an">
            <a:extLst xmlns:a="http://schemas.openxmlformats.org/drawingml/2006/main">
              <a:ext uri="{FF2B5EF4-FFF2-40B4-BE49-F238E27FC236}">
                <a16:creationId xmlns:a16="http://schemas.microsoft.com/office/drawing/2014/main" id="{9C3471F4-5FEF-4083-A3AF-79996E96D116}"/>
              </a:ext>
            </a:extLst>
          </p:cNvPr>
          <p:cNvSpPr>
            <a:spLocks xmlns:a="http://schemas.openxmlformats.org/drawingml/2006/main" noGrp="1"/>
          </p:cNvSpPr>
          <p:nvPr/>
        </p:nvSpPr>
        <p:spPr>
          <a:xfrm xmlns:a="http://schemas.openxmlformats.org/drawingml/2006/main">
            <a:off x="8229600" y="3657600"/>
            <a:ext cx="35052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Compare products, order values, service times and locations.</a:t>
            </a:r>
          </a:p>
        </p:txBody>
      </p:sp>
      <p:sp>
        <p:nvSpPr>
          <p:cNvPr id="11" name="To discuss: instructions, kitchen release and wh">
            <a:extLst xmlns:a="http://schemas.openxmlformats.org/drawingml/2006/main">
              <a:ext uri="{FF2B5EF4-FFF2-40B4-BE49-F238E27FC236}">
                <a16:creationId xmlns:a16="http://schemas.microsoft.com/office/drawing/2014/main" id="{1FFF960E-F846-40BF-91FB-18699CF1424A}"/>
              </a:ext>
            </a:extLst>
          </p:cNvPr>
          <p:cNvSpPr>
            <a:spLocks xmlns:a="http://schemas.openxmlformats.org/drawingml/2006/main" noGrp="1"/>
          </p:cNvSpPr>
          <p:nvPr/>
        </p:nvSpPr>
        <p:spPr>
          <a:xfrm xmlns:a="http://schemas.openxmlformats.org/drawingml/2006/main">
            <a:off x="457200" y="561975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B63D20"/>
                </a:solidFill>
                <a:latin typeface="Arial"/>
                <a:ea typeface="Arial"/>
                <a:cs typeface="Arial"/>
              </a:defRPr>
            </a:pPr>
            <a:r>
              <a:rPr sz="1950" b="1">
                <a:solidFill>
                  <a:srgbClr val="B63D20"/>
                </a:solidFill>
                <a:latin typeface="Arial"/>
                <a:ea typeface="Arial"/>
                <a:cs typeface="Arial"/>
              </a:rPr>
              <a:t>To discuss: instructions, kitchen release and what location figures really show.</a:t>
            </a:r>
          </a:p>
        </p:txBody>
      </p:sp>
    </p:spTree>
    <p:extLst>
      <p:ext uri="{BB962C8B-B14F-4D97-AF65-F5344CB8AC3E}">
        <p14:creationId xmlns:p14="http://schemas.microsoft.com/office/powerpoint/2010/main" val="17789400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04  /  ACCESS AND OUTPUTS">
            <a:extLst xmlns:a="http://schemas.openxmlformats.org/drawingml/2006/main">
              <a:ext uri="{FF2B5EF4-FFF2-40B4-BE49-F238E27FC236}">
                <a16:creationId xmlns:a16="http://schemas.microsoft.com/office/drawing/2014/main" id="{0211B7DF-C4A3-4BBF-9DBB-853F8882409E}"/>
              </a:ext>
            </a:extLst>
          </p:cNvPr>
          <p:cNvSpPr>
            <a:spLocks xmlns:a="http://schemas.openxmlformats.org/drawingml/2006/main" noGrp="1"/>
          </p:cNvSpPr>
          <p:nvPr/>
        </p:nvSpPr>
        <p:spPr>
          <a:xfrm xmlns:a="http://schemas.openxmlformats.org/drawingml/2006/main">
            <a:off x="4572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B63D20"/>
                </a:solidFill>
                <a:latin typeface="Arial"/>
                <a:ea typeface="Arial"/>
                <a:cs typeface="Arial"/>
              </a:defRPr>
            </a:pPr>
            <a:r>
              <a:rPr sz="1650" b="1">
                <a:solidFill>
                  <a:srgbClr val="B63D20"/>
                </a:solidFill>
                <a:latin typeface="Arial"/>
                <a:ea typeface="Arial"/>
                <a:cs typeface="Arial"/>
              </a:rPr>
              <a:t>04  /  ACCESS AND OUTPUTS</a:t>
            </a:r>
          </a:p>
        </p:txBody>
      </p:sp>
      <p:sp>
        <p:nvSpPr>
          <p:cNvPr id="2" name="Each user needs different powers">
            <a:extLst xmlns:a="http://schemas.openxmlformats.org/drawingml/2006/main">
              <a:ext uri="{FF2B5EF4-FFF2-40B4-BE49-F238E27FC236}">
                <a16:creationId xmlns:a16="http://schemas.microsoft.com/office/drawing/2014/main" id="{8488AC41-DA76-477A-8029-70B9FCDED449}"/>
              </a:ext>
            </a:extLst>
          </p:cNvPr>
          <p:cNvSpPr>
            <a:spLocks xmlns:a="http://schemas.openxmlformats.org/drawingml/2006/main" noGrp="1"/>
          </p:cNvSpPr>
          <p:nvPr/>
        </p:nvSpPr>
        <p:spPr>
          <a:xfrm xmlns:a="http://schemas.openxmlformats.org/drawingml/2006/main">
            <a:off x="457200" y="752475"/>
            <a:ext cx="11277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91919"/>
                </a:solidFill>
                <a:latin typeface="Arial"/>
                <a:ea typeface="Arial"/>
                <a:cs typeface="Arial"/>
              </a:defRPr>
            </a:pPr>
            <a:r>
              <a:rPr sz="3600" b="1">
                <a:solidFill>
                  <a:srgbClr val="191919"/>
                </a:solidFill>
                <a:latin typeface="Arial"/>
                <a:ea typeface="Arial"/>
                <a:cs typeface="Arial"/>
              </a:rPr>
              <a:t>Each user needs different powers</a:t>
            </a:r>
          </a:p>
        </p:txBody>
      </p:sp>
      <p:sp>
        <p:nvSpPr>
          <p:cNvPr id="3" name="BITE ME BURGERS  /  PROJECT DISCUSSION">
            <a:extLst xmlns:a="http://schemas.openxmlformats.org/drawingml/2006/main">
              <a:ext uri="{FF2B5EF4-FFF2-40B4-BE49-F238E27FC236}">
                <a16:creationId xmlns:a16="http://schemas.microsoft.com/office/drawing/2014/main" id="{49F67ABB-AE4B-4652-B412-49DF4F222345}"/>
              </a:ext>
            </a:extLst>
          </p:cNvPr>
          <p:cNvSpPr>
            <a:spLocks xmlns:a="http://schemas.openxmlformats.org/drawingml/2006/main" noGrp="1"/>
          </p:cNvSpPr>
          <p:nvPr/>
        </p:nvSpPr>
        <p:spPr>
          <a:xfrm xmlns:a="http://schemas.openxmlformats.org/drawingml/2006/main">
            <a:off x="457200" y="63341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BITE ME BURGERS  /  PROJECT DISCUSSION</a:t>
            </a:r>
          </a:p>
        </p:txBody>
      </p:sp>
      <p:sp>
        <p:nvSpPr>
          <p:cNvPr id="4" name="05">
            <a:extLst xmlns:a="http://schemas.openxmlformats.org/drawingml/2006/main">
              <a:ext uri="{FF2B5EF4-FFF2-40B4-BE49-F238E27FC236}">
                <a16:creationId xmlns:a16="http://schemas.microsoft.com/office/drawing/2014/main" id="{38D72FAB-C695-4DBE-9FBE-C13E6BF7ACE5}"/>
              </a:ext>
            </a:extLst>
          </p:cNvPr>
          <p:cNvSpPr>
            <a:spLocks xmlns:a="http://schemas.openxmlformats.org/drawingml/2006/main" noGrp="1"/>
          </p:cNvSpPr>
          <p:nvPr/>
        </p:nvSpPr>
        <p:spPr>
          <a:xfrm xmlns:a="http://schemas.openxmlformats.org/drawingml/2006/main">
            <a:off x="11239500" y="633412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05</a:t>
            </a:r>
          </a:p>
        </p:txBody>
      </p:sp>
      <p:sp>
        <p:nvSpPr>
          <p:cNvPr id="5" name="Separate customer ordering from authenticated st">
            <a:extLst xmlns:a="http://schemas.openxmlformats.org/drawingml/2006/main">
              <a:ext uri="{FF2B5EF4-FFF2-40B4-BE49-F238E27FC236}">
                <a16:creationId xmlns:a16="http://schemas.microsoft.com/office/drawing/2014/main" id="{18F46EDF-84BA-4761-98FB-BF7A22DE7B35}"/>
              </a:ext>
            </a:extLst>
          </p:cNvPr>
          <p:cNvSpPr>
            <a:spLocks xmlns:a="http://schemas.openxmlformats.org/drawingml/2006/main" noGrp="1"/>
          </p:cNvSpPr>
          <p:nvPr/>
        </p:nvSpPr>
        <p:spPr>
          <a:xfrm xmlns:a="http://schemas.openxmlformats.org/drawingml/2006/main">
            <a:off x="457200" y="1809750"/>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Separate customer ordering from authenticated staff functions.</a:t>
            </a:r>
          </a:p>
        </p:txBody>
      </p:sp>
      <p:graphicFrame>
        <p:nvGraphicFramePr>
          <p:cNvPr id="14" name=""/>
          <p:cNvGraphicFramePr/>
          <p:nvPr/>
        </p:nvGraphicFramePr>
        <p:xfrm>
          <a:off xmlns:a="http://schemas.openxmlformats.org/drawingml/2006/main" x="457200" y="2419350"/>
          <a:ext xmlns:a="http://schemas.openxmlformats.org/drawingml/2006/main" cx="11277600" cy="3429000"/>
        </p:xfrm>
        <a:graphic xmlns:a="http://schemas.openxmlformats.org/drawingml/2006/main">
          <a:graphicData uri="http://schemas.openxmlformats.org/drawingml/2006/table">
            <a:tbl>
              <a:tblPr/>
              <a:tblGrid>
                <a:gridCol w="2381250"/>
                <a:gridCol w="4762500"/>
                <a:gridCol w="4133850"/>
              </a:tblGrid>
              <a:tr h="685800">
                <a:tc>
                  <a:txBody>
                    <a:bodyPr/>
                    <a:lstStyle/>
                    <a:p>
                      <a:r>
                        <a:rPr sz="1875" b="1">
                          <a:solidFill>
                            <a:srgbClr val="191919"/>
                          </a:solidFill>
                          <a:latin typeface="Arial"/>
                          <a:ea typeface="Arial"/>
                          <a:cs typeface="Arial"/>
                        </a:rPr>
                        <a:t>User</a:t>
                      </a:r>
                    </a:p>
                  </a:txBody>
                  <a:tcPr marL="133350" marR="133350" marT="114300" marB="114300" anchor="ctr">
                    <a:solidFill>
                      <a:srgbClr val="EDEDED"/>
                    </a:solidFill>
                  </a:tcPr>
                </a:tc>
                <a:tc>
                  <a:txBody>
                    <a:bodyPr/>
                    <a:lstStyle/>
                    <a:p>
                      <a:r>
                        <a:rPr sz="1875" b="1">
                          <a:solidFill>
                            <a:srgbClr val="191919"/>
                          </a:solidFill>
                          <a:latin typeface="Arial"/>
                          <a:ea typeface="Arial"/>
                          <a:cs typeface="Arial"/>
                        </a:rPr>
                        <a:t>Permitted work</a:t>
                      </a:r>
                    </a:p>
                  </a:txBody>
                  <a:tcPr marL="133350" marR="133350" marT="114300" marB="114300" anchor="ctr">
                    <a:solidFill>
                      <a:srgbClr val="EDEDED"/>
                    </a:solidFill>
                  </a:tcPr>
                </a:tc>
                <a:tc>
                  <a:txBody>
                    <a:bodyPr/>
                    <a:lstStyle/>
                    <a:p>
                      <a:r>
                        <a:rPr sz="1875" b="1">
                          <a:solidFill>
                            <a:srgbClr val="191919"/>
                          </a:solidFill>
                          <a:latin typeface="Arial"/>
                          <a:ea typeface="Arial"/>
                          <a:cs typeface="Arial"/>
                        </a:rPr>
                        <a:t>Useful output</a:t>
                      </a:r>
                    </a:p>
                  </a:txBody>
                  <a:tcPr marL="133350" marR="133350" marT="114300" marB="114300" anchor="ctr">
                    <a:solidFill>
                      <a:srgbClr val="EDEDED"/>
                    </a:solidFill>
                  </a:tcPr>
                </a:tc>
              </a:tr>
              <a:tr h="685800">
                <a:tc>
                  <a:txBody>
                    <a:bodyPr/>
                    <a:lstStyle/>
                    <a:p>
                      <a:r>
                        <a:rPr sz="1875" b="0">
                          <a:solidFill>
                            <a:srgbClr val="191919"/>
                          </a:solidFill>
                          <a:latin typeface="Arial"/>
                          <a:ea typeface="Arial"/>
                          <a:cs typeface="Arial"/>
                        </a:rPr>
                        <a:t>Customer</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Build and confirm an order</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Basket breakdown + order reference</a:t>
                      </a:r>
                    </a:p>
                  </a:txBody>
                  <a:tcPr marL="133350" marR="133350" marT="114300" marB="114300" anchor="ctr">
                    <a:solidFill>
                      <a:srgbClr val="FFFFFF"/>
                    </a:solidFill>
                  </a:tcPr>
                </a:tc>
              </a:tr>
              <a:tr h="685800">
                <a:tc>
                  <a:txBody>
                    <a:bodyPr/>
                    <a:lstStyle/>
                    <a:p>
                      <a:r>
                        <a:rPr sz="1875" b="0">
                          <a:solidFill>
                            <a:srgbClr val="191919"/>
                          </a:solidFill>
                          <a:latin typeface="Arial"/>
                          <a:ea typeface="Arial"/>
                          <a:cs typeface="Arial"/>
                        </a:rPr>
                        <a:t>Counter staff</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Orders, payment and collection</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Receipt + current order status</a:t>
                      </a:r>
                    </a:p>
                  </a:txBody>
                  <a:tcPr marL="133350" marR="133350" marT="114300" marB="114300" anchor="ctr">
                    <a:solidFill>
                      <a:srgbClr val="FFFFFF"/>
                    </a:solidFill>
                  </a:tcPr>
                </a:tc>
              </a:tr>
              <a:tr h="685800">
                <a:tc>
                  <a:txBody>
                    <a:bodyPr/>
                    <a:lstStyle/>
                    <a:p>
                      <a:r>
                        <a:rPr sz="1875" b="0">
                          <a:solidFill>
                            <a:srgbClr val="191919"/>
                          </a:solidFill>
                          <a:latin typeface="Arial"/>
                          <a:ea typeface="Arial"/>
                          <a:cs typeface="Arial"/>
                        </a:rPr>
                        <a:t>Kitchen staff</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Preparation and availability updates</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Queue + item customisations</a:t>
                      </a:r>
                    </a:p>
                  </a:txBody>
                  <a:tcPr marL="133350" marR="133350" marT="114300" marB="114300" anchor="ctr">
                    <a:solidFill>
                      <a:srgbClr val="FFFFFF"/>
                    </a:solidFill>
                  </a:tcPr>
                </a:tc>
              </a:tr>
              <a:tr h="685800">
                <a:tc>
                  <a:txBody>
                    <a:bodyPr/>
                    <a:lstStyle/>
                    <a:p>
                      <a:r>
                        <a:rPr sz="1875" b="0">
                          <a:solidFill>
                            <a:srgbClr val="191919"/>
                          </a:solidFill>
                          <a:latin typeface="Arial"/>
                          <a:ea typeface="Arial"/>
                          <a:cs typeface="Arial"/>
                        </a:rPr>
                        <a:t>Manager</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Prices, accounts and refund approval</a:t>
                      </a:r>
                    </a:p>
                  </a:txBody>
                  <a:tcPr marL="133350" marR="133350" marT="114300" marB="114300" anchor="ctr">
                    <a:solidFill>
                      <a:srgbClr val="FFFFFF"/>
                    </a:solidFill>
                  </a:tcPr>
                </a:tc>
                <a:tc>
                  <a:txBody>
                    <a:bodyPr/>
                    <a:lstStyle/>
                    <a:p>
                      <a:r>
                        <a:rPr sz="1875" b="0">
                          <a:solidFill>
                            <a:srgbClr val="191919"/>
                          </a:solidFill>
                          <a:latin typeface="Arial"/>
                          <a:ea typeface="Arial"/>
                          <a:cs typeface="Arial"/>
                        </a:rPr>
                        <a:t>Sales + service-time reports</a:t>
                      </a:r>
                    </a:p>
                  </a:txBody>
                  <a:tcPr marL="133350" marR="133350" marT="114300" marB="114300" anchor="ctr">
                    <a:solidFill>
                      <a:srgbClr val="FFFFFF"/>
                    </a:solidFill>
                  </a:tcPr>
                </a:tc>
              </a:tr>
            </a:tbl>
          </a:graphicData>
        </a:graphic>
      </p:graphicFrame>
    </p:spTree>
    <p:extLst>
      <p:ext uri="{BB962C8B-B14F-4D97-AF65-F5344CB8AC3E}">
        <p14:creationId xmlns:p14="http://schemas.microsoft.com/office/powerpoint/2010/main" val="19480017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05  /  COMPUTING SCOPE">
            <a:extLst xmlns:a="http://schemas.openxmlformats.org/drawingml/2006/main">
              <a:ext uri="{FF2B5EF4-FFF2-40B4-BE49-F238E27FC236}">
                <a16:creationId xmlns:a16="http://schemas.microsoft.com/office/drawing/2014/main" id="{6FF4E3E9-935B-41F5-819D-C05510C49C94}"/>
              </a:ext>
            </a:extLst>
          </p:cNvPr>
          <p:cNvSpPr>
            <a:spLocks xmlns:a="http://schemas.openxmlformats.org/drawingml/2006/main" noGrp="1"/>
          </p:cNvSpPr>
          <p:nvPr/>
        </p:nvSpPr>
        <p:spPr>
          <a:xfrm xmlns:a="http://schemas.openxmlformats.org/drawingml/2006/main">
            <a:off x="4572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B63D20"/>
                </a:solidFill>
                <a:latin typeface="Arial"/>
                <a:ea typeface="Arial"/>
                <a:cs typeface="Arial"/>
              </a:defRPr>
            </a:pPr>
            <a:r>
              <a:rPr sz="1650" b="1">
                <a:solidFill>
                  <a:srgbClr val="B63D20"/>
                </a:solidFill>
                <a:latin typeface="Arial"/>
                <a:ea typeface="Arial"/>
                <a:cs typeface="Arial"/>
              </a:rPr>
              <a:t>05  /  COMPUTING SCOPE</a:t>
            </a:r>
          </a:p>
        </p:txBody>
      </p:sp>
      <p:sp>
        <p:nvSpPr>
          <p:cNvPr id="2" name="The computing goes beyond taking orders">
            <a:extLst xmlns:a="http://schemas.openxmlformats.org/drawingml/2006/main">
              <a:ext uri="{FF2B5EF4-FFF2-40B4-BE49-F238E27FC236}">
                <a16:creationId xmlns:a16="http://schemas.microsoft.com/office/drawing/2014/main" id="{F73BF580-739C-43FB-9D8D-0B82139D421A}"/>
              </a:ext>
            </a:extLst>
          </p:cNvPr>
          <p:cNvSpPr>
            <a:spLocks xmlns:a="http://schemas.openxmlformats.org/drawingml/2006/main" noGrp="1"/>
          </p:cNvSpPr>
          <p:nvPr/>
        </p:nvSpPr>
        <p:spPr>
          <a:xfrm xmlns:a="http://schemas.openxmlformats.org/drawingml/2006/main">
            <a:off x="457200" y="752475"/>
            <a:ext cx="11277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91919"/>
                </a:solidFill>
                <a:latin typeface="Arial"/>
                <a:ea typeface="Arial"/>
                <a:cs typeface="Arial"/>
              </a:defRPr>
            </a:pPr>
            <a:r>
              <a:rPr sz="3600" b="1">
                <a:solidFill>
                  <a:srgbClr val="191919"/>
                </a:solidFill>
                <a:latin typeface="Arial"/>
                <a:ea typeface="Arial"/>
                <a:cs typeface="Arial"/>
              </a:rPr>
              <a:t>The computing goes beyond taking orders</a:t>
            </a:r>
          </a:p>
        </p:txBody>
      </p:sp>
      <p:sp>
        <p:nvSpPr>
          <p:cNvPr id="3" name="BITE ME BURGERS  /  PROJECT DISCUSSION">
            <a:extLst xmlns:a="http://schemas.openxmlformats.org/drawingml/2006/main">
              <a:ext uri="{FF2B5EF4-FFF2-40B4-BE49-F238E27FC236}">
                <a16:creationId xmlns:a16="http://schemas.microsoft.com/office/drawing/2014/main" id="{954E7D94-2052-4B0A-9A57-D536B5939DF9}"/>
              </a:ext>
            </a:extLst>
          </p:cNvPr>
          <p:cNvSpPr>
            <a:spLocks xmlns:a="http://schemas.openxmlformats.org/drawingml/2006/main" noGrp="1"/>
          </p:cNvSpPr>
          <p:nvPr/>
        </p:nvSpPr>
        <p:spPr>
          <a:xfrm xmlns:a="http://schemas.openxmlformats.org/drawingml/2006/main">
            <a:off x="457200" y="63341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BITE ME BURGERS  /  PROJECT DISCUSSION</a:t>
            </a:r>
          </a:p>
        </p:txBody>
      </p:sp>
      <p:sp>
        <p:nvSpPr>
          <p:cNvPr id="4" name="06">
            <a:extLst xmlns:a="http://schemas.openxmlformats.org/drawingml/2006/main">
              <a:ext uri="{FF2B5EF4-FFF2-40B4-BE49-F238E27FC236}">
                <a16:creationId xmlns:a16="http://schemas.microsoft.com/office/drawing/2014/main" id="{A3910AE7-8C9D-46FC-B710-B0AF5464B0F0}"/>
              </a:ext>
            </a:extLst>
          </p:cNvPr>
          <p:cNvSpPr>
            <a:spLocks xmlns:a="http://schemas.openxmlformats.org/drawingml/2006/main" noGrp="1"/>
          </p:cNvSpPr>
          <p:nvPr/>
        </p:nvSpPr>
        <p:spPr>
          <a:xfrm xmlns:a="http://schemas.openxmlformats.org/drawingml/2006/main">
            <a:off x="11239500" y="633412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06</a:t>
            </a:r>
          </a:p>
        </p:txBody>
      </p:sp>
      <p:sp>
        <p:nvSpPr>
          <p:cNvPr id="5" name="Basket processing">
            <a:extLst xmlns:a="http://schemas.openxmlformats.org/drawingml/2006/main">
              <a:ext uri="{FF2B5EF4-FFF2-40B4-BE49-F238E27FC236}">
                <a16:creationId xmlns:a16="http://schemas.microsoft.com/office/drawing/2014/main" id="{07D54633-55EF-4ABE-8EFB-089F82C6A742}"/>
              </a:ext>
            </a:extLst>
          </p:cNvPr>
          <p:cNvSpPr>
            <a:spLocks xmlns:a="http://schemas.openxmlformats.org/drawingml/2006/main" noGrp="1"/>
          </p:cNvSpPr>
          <p:nvPr/>
        </p:nvSpPr>
        <p:spPr>
          <a:xfrm xmlns:a="http://schemas.openxmlformats.org/drawingml/2006/main">
            <a:off x="457200" y="2857500"/>
            <a:ext cx="350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Basket processing</a:t>
            </a:r>
          </a:p>
        </p:txBody>
      </p:sp>
      <p:sp>
        <p:nvSpPr>
          <p:cNvPr id="6" name="Calculate quantities and additions without losin">
            <a:extLst xmlns:a="http://schemas.openxmlformats.org/drawingml/2006/main">
              <a:ext uri="{FF2B5EF4-FFF2-40B4-BE49-F238E27FC236}">
                <a16:creationId xmlns:a16="http://schemas.microsoft.com/office/drawing/2014/main" id="{7FBCC0F8-6C6A-422E-BCD4-3F6CA89548E4}"/>
              </a:ext>
            </a:extLst>
          </p:cNvPr>
          <p:cNvSpPr>
            <a:spLocks xmlns:a="http://schemas.openxmlformats.org/drawingml/2006/main" noGrp="1"/>
          </p:cNvSpPr>
          <p:nvPr/>
        </p:nvSpPr>
        <p:spPr>
          <a:xfrm xmlns:a="http://schemas.openxmlformats.org/drawingml/2006/main">
            <a:off x="457200" y="3657600"/>
            <a:ext cx="35052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Calculate quantities and additions without losing item-level choices.</a:t>
            </a:r>
          </a:p>
        </p:txBody>
      </p:sp>
      <p:sp>
        <p:nvSpPr>
          <p:cNvPr id="7" name="Workflow rules">
            <a:extLst xmlns:a="http://schemas.openxmlformats.org/drawingml/2006/main">
              <a:ext uri="{FF2B5EF4-FFF2-40B4-BE49-F238E27FC236}">
                <a16:creationId xmlns:a16="http://schemas.microsoft.com/office/drawing/2014/main" id="{4913B868-FE22-4C44-ADCA-1266BF550B92}"/>
              </a:ext>
            </a:extLst>
          </p:cNvPr>
          <p:cNvSpPr>
            <a:spLocks xmlns:a="http://schemas.openxmlformats.org/drawingml/2006/main" noGrp="1"/>
          </p:cNvSpPr>
          <p:nvPr/>
        </p:nvSpPr>
        <p:spPr>
          <a:xfrm xmlns:a="http://schemas.openxmlformats.org/drawingml/2006/main">
            <a:off x="4343400" y="2857500"/>
            <a:ext cx="350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Workflow rules</a:t>
            </a:r>
          </a:p>
        </p:txBody>
      </p:sp>
      <p:sp>
        <p:nvSpPr>
          <p:cNvPr id="8" name="Check availability and control which actions can">
            <a:extLst xmlns:a="http://schemas.openxmlformats.org/drawingml/2006/main">
              <a:ext uri="{FF2B5EF4-FFF2-40B4-BE49-F238E27FC236}">
                <a16:creationId xmlns:a16="http://schemas.microsoft.com/office/drawing/2014/main" id="{9DB896D7-292F-4BFC-B473-871C0385BB5B}"/>
              </a:ext>
            </a:extLst>
          </p:cNvPr>
          <p:cNvSpPr>
            <a:spLocks xmlns:a="http://schemas.openxmlformats.org/drawingml/2006/main" noGrp="1"/>
          </p:cNvSpPr>
          <p:nvPr/>
        </p:nvSpPr>
        <p:spPr>
          <a:xfrm xmlns:a="http://schemas.openxmlformats.org/drawingml/2006/main">
            <a:off x="4343400" y="3657600"/>
            <a:ext cx="35052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Check availability and control which actions can happen next.</a:t>
            </a:r>
          </a:p>
        </p:txBody>
      </p:sp>
      <p:sp>
        <p:nvSpPr>
          <p:cNvPr id="9" name="Useful analysis">
            <a:extLst xmlns:a="http://schemas.openxmlformats.org/drawingml/2006/main">
              <a:ext uri="{FF2B5EF4-FFF2-40B4-BE49-F238E27FC236}">
                <a16:creationId xmlns:a16="http://schemas.microsoft.com/office/drawing/2014/main" id="{55DD0713-DDB3-4E4F-88E6-F804C0C73EE7}"/>
              </a:ext>
            </a:extLst>
          </p:cNvPr>
          <p:cNvSpPr>
            <a:spLocks xmlns:a="http://schemas.openxmlformats.org/drawingml/2006/main" noGrp="1"/>
          </p:cNvSpPr>
          <p:nvPr/>
        </p:nvSpPr>
        <p:spPr>
          <a:xfrm xmlns:a="http://schemas.openxmlformats.org/drawingml/2006/main">
            <a:off x="8229600" y="2857500"/>
            <a:ext cx="350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Useful analysis</a:t>
            </a:r>
          </a:p>
        </p:txBody>
      </p:sp>
      <p:sp>
        <p:nvSpPr>
          <p:cNvPr id="10" name="Filter sessions and aggregate product sales, ord">
            <a:extLst xmlns:a="http://schemas.openxmlformats.org/drawingml/2006/main">
              <a:ext uri="{FF2B5EF4-FFF2-40B4-BE49-F238E27FC236}">
                <a16:creationId xmlns:a16="http://schemas.microsoft.com/office/drawing/2014/main" id="{DB647E0C-0506-4C3E-B302-F2D591BB76E3}"/>
              </a:ext>
            </a:extLst>
          </p:cNvPr>
          <p:cNvSpPr>
            <a:spLocks xmlns:a="http://schemas.openxmlformats.org/drawingml/2006/main" noGrp="1"/>
          </p:cNvSpPr>
          <p:nvPr/>
        </p:nvSpPr>
        <p:spPr>
          <a:xfrm xmlns:a="http://schemas.openxmlformats.org/drawingml/2006/main">
            <a:off x="8229600" y="3657600"/>
            <a:ext cx="35052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Filter sessions and aggregate product sales, order values and timings.</a:t>
            </a:r>
          </a:p>
        </p:txBody>
      </p:sp>
      <p:sp>
        <p:nvSpPr>
          <p:cNvPr id="11" name="Testable example: two identical burgers, but onl">
            <a:extLst xmlns:a="http://schemas.openxmlformats.org/drawingml/2006/main">
              <a:ext uri="{FF2B5EF4-FFF2-40B4-BE49-F238E27FC236}">
                <a16:creationId xmlns:a16="http://schemas.microsoft.com/office/drawing/2014/main" id="{8A1B56DC-BEEF-4176-9FB1-9161A5B8E827}"/>
              </a:ext>
            </a:extLst>
          </p:cNvPr>
          <p:cNvSpPr>
            <a:spLocks xmlns:a="http://schemas.openxmlformats.org/drawingml/2006/main" noGrp="1"/>
          </p:cNvSpPr>
          <p:nvPr/>
        </p:nvSpPr>
        <p:spPr>
          <a:xfrm xmlns:a="http://schemas.openxmlformats.org/drawingml/2006/main">
            <a:off x="457200" y="5638800"/>
            <a:ext cx="11277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B63D20"/>
                </a:solidFill>
                <a:latin typeface="Arial"/>
                <a:ea typeface="Arial"/>
                <a:cs typeface="Arial"/>
              </a:defRPr>
            </a:pPr>
            <a:r>
              <a:rPr sz="1950" b="1">
                <a:solidFill>
                  <a:srgbClr val="B63D20"/>
                </a:solidFill>
                <a:latin typeface="Arial"/>
                <a:ea typeface="Arial"/>
                <a:cs typeface="Arial"/>
              </a:rPr>
              <a:t>Testable example: two identical burgers, but only one has an added topping.</a:t>
            </a:r>
          </a:p>
        </p:txBody>
      </p:sp>
    </p:spTree>
    <p:extLst>
      <p:ext uri="{BB962C8B-B14F-4D97-AF65-F5344CB8AC3E}">
        <p14:creationId xmlns:p14="http://schemas.microsoft.com/office/powerpoint/2010/main" val="17761699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06  /  LIMITATIONS">
            <a:extLst xmlns:a="http://schemas.openxmlformats.org/drawingml/2006/main">
              <a:ext uri="{FF2B5EF4-FFF2-40B4-BE49-F238E27FC236}">
                <a16:creationId xmlns:a16="http://schemas.microsoft.com/office/drawing/2014/main" id="{13A1200F-F12C-4C6B-84AB-70979CF1E9BD}"/>
              </a:ext>
            </a:extLst>
          </p:cNvPr>
          <p:cNvSpPr>
            <a:spLocks xmlns:a="http://schemas.openxmlformats.org/drawingml/2006/main" noGrp="1"/>
          </p:cNvSpPr>
          <p:nvPr/>
        </p:nvSpPr>
        <p:spPr>
          <a:xfrm xmlns:a="http://schemas.openxmlformats.org/drawingml/2006/main">
            <a:off x="4572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B63D20"/>
                </a:solidFill>
                <a:latin typeface="Arial"/>
                <a:ea typeface="Arial"/>
                <a:cs typeface="Arial"/>
              </a:defRPr>
            </a:pPr>
            <a:r>
              <a:rPr sz="1650" b="1">
                <a:solidFill>
                  <a:srgbClr val="B63D20"/>
                </a:solidFill>
                <a:latin typeface="Arial"/>
                <a:ea typeface="Arial"/>
                <a:cs typeface="Arial"/>
              </a:rPr>
              <a:t>06  /  LIMITATIONS</a:t>
            </a:r>
          </a:p>
        </p:txBody>
      </p:sp>
      <p:sp>
        <p:nvSpPr>
          <p:cNvPr id="2" name="A kiosk prototype has clear boundaries">
            <a:extLst xmlns:a="http://schemas.openxmlformats.org/drawingml/2006/main">
              <a:ext uri="{FF2B5EF4-FFF2-40B4-BE49-F238E27FC236}">
                <a16:creationId xmlns:a16="http://schemas.microsoft.com/office/drawing/2014/main" id="{EDAE003D-DF0D-4B6F-B9D5-C91EDDDFAB3D}"/>
              </a:ext>
            </a:extLst>
          </p:cNvPr>
          <p:cNvSpPr>
            <a:spLocks xmlns:a="http://schemas.openxmlformats.org/drawingml/2006/main" noGrp="1"/>
          </p:cNvSpPr>
          <p:nvPr/>
        </p:nvSpPr>
        <p:spPr>
          <a:xfrm xmlns:a="http://schemas.openxmlformats.org/drawingml/2006/main">
            <a:off x="457200" y="752475"/>
            <a:ext cx="11277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91919"/>
                </a:solidFill>
                <a:latin typeface="Arial"/>
                <a:ea typeface="Arial"/>
                <a:cs typeface="Arial"/>
              </a:defRPr>
            </a:pPr>
            <a:r>
              <a:rPr sz="3600" b="1">
                <a:solidFill>
                  <a:srgbClr val="191919"/>
                </a:solidFill>
                <a:latin typeface="Arial"/>
                <a:ea typeface="Arial"/>
                <a:cs typeface="Arial"/>
              </a:rPr>
              <a:t>A kiosk prototype has clear boundaries</a:t>
            </a:r>
          </a:p>
        </p:txBody>
      </p:sp>
      <p:sp>
        <p:nvSpPr>
          <p:cNvPr id="3" name="BITE ME BURGERS  /  PROJECT DISCUSSION">
            <a:extLst xmlns:a="http://schemas.openxmlformats.org/drawingml/2006/main">
              <a:ext uri="{FF2B5EF4-FFF2-40B4-BE49-F238E27FC236}">
                <a16:creationId xmlns:a16="http://schemas.microsoft.com/office/drawing/2014/main" id="{53CFDFB6-06B4-4FF4-95B6-ACF48577DD35}"/>
              </a:ext>
            </a:extLst>
          </p:cNvPr>
          <p:cNvSpPr>
            <a:spLocks xmlns:a="http://schemas.openxmlformats.org/drawingml/2006/main" noGrp="1"/>
          </p:cNvSpPr>
          <p:nvPr/>
        </p:nvSpPr>
        <p:spPr>
          <a:xfrm xmlns:a="http://schemas.openxmlformats.org/drawingml/2006/main">
            <a:off x="457200" y="63341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BITE ME BURGERS  /  PROJECT DISCUSSION</a:t>
            </a:r>
          </a:p>
        </p:txBody>
      </p:sp>
      <p:sp>
        <p:nvSpPr>
          <p:cNvPr id="4" name="07">
            <a:extLst xmlns:a="http://schemas.openxmlformats.org/drawingml/2006/main">
              <a:ext uri="{FF2B5EF4-FFF2-40B4-BE49-F238E27FC236}">
                <a16:creationId xmlns:a16="http://schemas.microsoft.com/office/drawing/2014/main" id="{8358711E-8326-469D-9E53-B1BE96F2ACDC}"/>
              </a:ext>
            </a:extLst>
          </p:cNvPr>
          <p:cNvSpPr>
            <a:spLocks xmlns:a="http://schemas.openxmlformats.org/drawingml/2006/main" noGrp="1"/>
          </p:cNvSpPr>
          <p:nvPr/>
        </p:nvSpPr>
        <p:spPr>
          <a:xfrm xmlns:a="http://schemas.openxmlformats.org/drawingml/2006/main">
            <a:off x="11239500" y="633412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07</a:t>
            </a:r>
          </a:p>
        </p:txBody>
      </p:sp>
      <p:sp>
        <p:nvSpPr>
          <p:cNvPr id="5" name="Within this version">
            <a:extLst xmlns:a="http://schemas.openxmlformats.org/drawingml/2006/main">
              <a:ext uri="{FF2B5EF4-FFF2-40B4-BE49-F238E27FC236}">
                <a16:creationId xmlns:a16="http://schemas.microsoft.com/office/drawing/2014/main" id="{345E6ED4-AC2A-4E4D-86C2-2113860F0D63}"/>
              </a:ext>
            </a:extLst>
          </p:cNvPr>
          <p:cNvSpPr>
            <a:spLocks xmlns:a="http://schemas.openxmlformats.org/drawingml/2006/main" noGrp="1"/>
          </p:cNvSpPr>
          <p:nvPr/>
        </p:nvSpPr>
        <p:spPr>
          <a:xfrm xmlns:a="http://schemas.openxmlformats.org/drawingml/2006/main">
            <a:off x="457200" y="2381250"/>
            <a:ext cx="5372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Within this version</a:t>
            </a:r>
          </a:p>
        </p:txBody>
      </p:sp>
      <p:sp>
        <p:nvSpPr>
          <p:cNvPr id="6" name="Customer checkout, kitchen queue, collection, st">
            <a:extLst xmlns:a="http://schemas.openxmlformats.org/drawingml/2006/main">
              <a:ext uri="{FF2B5EF4-FFF2-40B4-BE49-F238E27FC236}">
                <a16:creationId xmlns:a16="http://schemas.microsoft.com/office/drawing/2014/main" id="{0ACF302D-6605-4810-88ED-330089F52BE0}"/>
              </a:ext>
            </a:extLst>
          </p:cNvPr>
          <p:cNvSpPr>
            <a:spLocks xmlns:a="http://schemas.openxmlformats.org/drawingml/2006/main" noGrp="1"/>
          </p:cNvSpPr>
          <p:nvPr/>
        </p:nvSpPr>
        <p:spPr>
          <a:xfrm xmlns:a="http://schemas.openxmlformats.org/drawingml/2006/main">
            <a:off x="457200" y="3181350"/>
            <a:ext cx="53721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Customer checkout, kitchen queue, collection, staff roles and reports.</a:t>
            </a:r>
          </a:p>
        </p:txBody>
      </p:sp>
      <p:sp>
        <p:nvSpPr>
          <p:cNvPr id="7" name="Outside this version">
            <a:extLst xmlns:a="http://schemas.openxmlformats.org/drawingml/2006/main">
              <a:ext uri="{FF2B5EF4-FFF2-40B4-BE49-F238E27FC236}">
                <a16:creationId xmlns:a16="http://schemas.microsoft.com/office/drawing/2014/main" id="{674F5FE9-DD61-47CC-9A51-8BA025CBAC42}"/>
              </a:ext>
            </a:extLst>
          </p:cNvPr>
          <p:cNvSpPr>
            <a:spLocks xmlns:a="http://schemas.openxmlformats.org/drawingml/2006/main" noGrp="1"/>
          </p:cNvSpPr>
          <p:nvPr/>
        </p:nvSpPr>
        <p:spPr>
          <a:xfrm xmlns:a="http://schemas.openxmlformats.org/drawingml/2006/main">
            <a:off x="6210300" y="2381250"/>
            <a:ext cx="5372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Outside this version</a:t>
            </a:r>
          </a:p>
        </p:txBody>
      </p:sp>
      <p:sp>
        <p:nvSpPr>
          <p:cNvPr id="8" name="Card processing, delivery, loyalty accounts and ">
            <a:extLst xmlns:a="http://schemas.openxmlformats.org/drawingml/2006/main">
              <a:ext uri="{FF2B5EF4-FFF2-40B4-BE49-F238E27FC236}">
                <a16:creationId xmlns:a16="http://schemas.microsoft.com/office/drawing/2014/main" id="{CBC60741-31D9-439D-8D76-B65AB8F35E06}"/>
              </a:ext>
            </a:extLst>
          </p:cNvPr>
          <p:cNvSpPr>
            <a:spLocks xmlns:a="http://schemas.openxmlformats.org/drawingml/2006/main" noGrp="1"/>
          </p:cNvSpPr>
          <p:nvPr/>
        </p:nvSpPr>
        <p:spPr>
          <a:xfrm xmlns:a="http://schemas.openxmlformats.org/drawingml/2006/main">
            <a:off x="6210300" y="3181350"/>
            <a:ext cx="53721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Card processing, delivery, loyalty accounts and automatic ingredient stock.</a:t>
            </a:r>
          </a:p>
        </p:txBody>
      </p:sp>
      <p:sp>
        <p:nvSpPr>
          <p:cNvPr id="9" name="One-computer demonstration first. Separate live ">
            <a:extLst xmlns:a="http://schemas.openxmlformats.org/drawingml/2006/main">
              <a:ext uri="{FF2B5EF4-FFF2-40B4-BE49-F238E27FC236}">
                <a16:creationId xmlns:a16="http://schemas.microsoft.com/office/drawing/2014/main" id="{161AC260-9562-4FF8-9DCA-9A384D5F293B}"/>
              </a:ext>
            </a:extLst>
          </p:cNvPr>
          <p:cNvSpPr>
            <a:spLocks xmlns:a="http://schemas.openxmlformats.org/drawingml/2006/main" noGrp="1"/>
          </p:cNvSpPr>
          <p:nvPr/>
        </p:nvSpPr>
        <p:spPr>
          <a:xfrm xmlns:a="http://schemas.openxmlformats.org/drawingml/2006/main">
            <a:off x="457200" y="5124450"/>
            <a:ext cx="11277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B63D20"/>
                </a:solidFill>
                <a:latin typeface="Arial"/>
                <a:ea typeface="Arial"/>
                <a:cs typeface="Arial"/>
              </a:defRPr>
            </a:pPr>
            <a:r>
              <a:rPr sz="2250" b="1">
                <a:solidFill>
                  <a:srgbClr val="B63D20"/>
                </a:solidFill>
                <a:latin typeface="Arial"/>
                <a:ea typeface="Arial"/>
                <a:cs typeface="Arial"/>
              </a:rPr>
              <a:t>One-computer demonstration first. Separate live devices need further deployment work.</a:t>
            </a:r>
          </a:p>
        </p:txBody>
      </p:sp>
    </p:spTree>
    <p:extLst>
      <p:ext uri="{BB962C8B-B14F-4D97-AF65-F5344CB8AC3E}">
        <p14:creationId xmlns:p14="http://schemas.microsoft.com/office/powerpoint/2010/main" val="14635117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07  /  QUESTIONS FOR THE OWNER">
            <a:extLst xmlns:a="http://schemas.openxmlformats.org/drawingml/2006/main">
              <a:ext uri="{FF2B5EF4-FFF2-40B4-BE49-F238E27FC236}">
                <a16:creationId xmlns:a16="http://schemas.microsoft.com/office/drawing/2014/main" id="{EB954369-8AC7-415D-A112-D7E3DFC337BB}"/>
              </a:ext>
            </a:extLst>
          </p:cNvPr>
          <p:cNvSpPr>
            <a:spLocks xmlns:a="http://schemas.openxmlformats.org/drawingml/2006/main" noGrp="1"/>
          </p:cNvSpPr>
          <p:nvPr/>
        </p:nvSpPr>
        <p:spPr>
          <a:xfrm xmlns:a="http://schemas.openxmlformats.org/drawingml/2006/main">
            <a:off x="4572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B63D20"/>
                </a:solidFill>
                <a:latin typeface="Arial"/>
                <a:ea typeface="Arial"/>
                <a:cs typeface="Arial"/>
              </a:defRPr>
            </a:pPr>
            <a:r>
              <a:rPr sz="1650" b="1">
                <a:solidFill>
                  <a:srgbClr val="B63D20"/>
                </a:solidFill>
                <a:latin typeface="Arial"/>
                <a:ea typeface="Arial"/>
                <a:cs typeface="Arial"/>
              </a:rPr>
              <a:t>07  /  QUESTIONS FOR THE OWNER</a:t>
            </a:r>
          </a:p>
        </p:txBody>
      </p:sp>
      <p:sp>
        <p:nvSpPr>
          <p:cNvPr id="2" name="What needs changing before I build?">
            <a:extLst xmlns:a="http://schemas.openxmlformats.org/drawingml/2006/main">
              <a:ext uri="{FF2B5EF4-FFF2-40B4-BE49-F238E27FC236}">
                <a16:creationId xmlns:a16="http://schemas.microsoft.com/office/drawing/2014/main" id="{6F00AA6A-3876-4D51-A4BD-E6F2A0F2F1E9}"/>
              </a:ext>
            </a:extLst>
          </p:cNvPr>
          <p:cNvSpPr>
            <a:spLocks xmlns:a="http://schemas.openxmlformats.org/drawingml/2006/main" noGrp="1"/>
          </p:cNvSpPr>
          <p:nvPr/>
        </p:nvSpPr>
        <p:spPr>
          <a:xfrm xmlns:a="http://schemas.openxmlformats.org/drawingml/2006/main">
            <a:off x="457200" y="752475"/>
            <a:ext cx="11277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91919"/>
                </a:solidFill>
                <a:latin typeface="Arial"/>
                <a:ea typeface="Arial"/>
                <a:cs typeface="Arial"/>
              </a:defRPr>
            </a:pPr>
            <a:r>
              <a:rPr sz="3600" b="1">
                <a:solidFill>
                  <a:srgbClr val="191919"/>
                </a:solidFill>
                <a:latin typeface="Arial"/>
                <a:ea typeface="Arial"/>
                <a:cs typeface="Arial"/>
              </a:rPr>
              <a:t>What needs changing before I build?</a:t>
            </a:r>
          </a:p>
        </p:txBody>
      </p:sp>
      <p:sp>
        <p:nvSpPr>
          <p:cNvPr id="3" name="BITE ME BURGERS  /  PROJECT DISCUSSION">
            <a:extLst xmlns:a="http://schemas.openxmlformats.org/drawingml/2006/main">
              <a:ext uri="{FF2B5EF4-FFF2-40B4-BE49-F238E27FC236}">
                <a16:creationId xmlns:a16="http://schemas.microsoft.com/office/drawing/2014/main" id="{2D6883B2-54FC-43B7-9C81-7EC54D7DEFFE}"/>
              </a:ext>
            </a:extLst>
          </p:cNvPr>
          <p:cNvSpPr>
            <a:spLocks xmlns:a="http://schemas.openxmlformats.org/drawingml/2006/main" noGrp="1"/>
          </p:cNvSpPr>
          <p:nvPr/>
        </p:nvSpPr>
        <p:spPr>
          <a:xfrm xmlns:a="http://schemas.openxmlformats.org/drawingml/2006/main">
            <a:off x="457200" y="63341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BITE ME BURGERS  /  PROJECT DISCUSSION</a:t>
            </a:r>
          </a:p>
        </p:txBody>
      </p:sp>
      <p:sp>
        <p:nvSpPr>
          <p:cNvPr id="4" name="08">
            <a:extLst xmlns:a="http://schemas.openxmlformats.org/drawingml/2006/main">
              <a:ext uri="{FF2B5EF4-FFF2-40B4-BE49-F238E27FC236}">
                <a16:creationId xmlns:a16="http://schemas.microsoft.com/office/drawing/2014/main" id="{7E2C4803-5B7F-4BD3-80B7-9287D706FBEF}"/>
              </a:ext>
            </a:extLst>
          </p:cNvPr>
          <p:cNvSpPr>
            <a:spLocks xmlns:a="http://schemas.openxmlformats.org/drawingml/2006/main" noGrp="1"/>
          </p:cNvSpPr>
          <p:nvPr/>
        </p:nvSpPr>
        <p:spPr>
          <a:xfrm xmlns:a="http://schemas.openxmlformats.org/drawingml/2006/main">
            <a:off x="11239500" y="633412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08</a:t>
            </a:r>
          </a:p>
        </p:txBody>
      </p:sp>
      <p:sp>
        <p:nvSpPr>
          <p:cNvPr id="5" name="Checkout">
            <a:extLst xmlns:a="http://schemas.openxmlformats.org/drawingml/2006/main">
              <a:ext uri="{FF2B5EF4-FFF2-40B4-BE49-F238E27FC236}">
                <a16:creationId xmlns:a16="http://schemas.microsoft.com/office/drawing/2014/main" id="{63DA87A3-3A91-4A86-AF4F-D8B803456772}"/>
              </a:ext>
            </a:extLst>
          </p:cNvPr>
          <p:cNvSpPr>
            <a:spLocks xmlns:a="http://schemas.openxmlformats.org/drawingml/2006/main" noGrp="1"/>
          </p:cNvSpPr>
          <p:nvPr/>
        </p:nvSpPr>
        <p:spPr>
          <a:xfrm xmlns:a="http://schemas.openxmlformats.org/drawingml/2006/main">
            <a:off x="457200" y="2914650"/>
            <a:ext cx="350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Checkout</a:t>
            </a:r>
          </a:p>
        </p:txBody>
      </p:sp>
      <p:sp>
        <p:nvSpPr>
          <p:cNvPr id="6" name="Should a customer’s confirmation be enough to st">
            <a:extLst xmlns:a="http://schemas.openxmlformats.org/drawingml/2006/main">
              <a:ext uri="{FF2B5EF4-FFF2-40B4-BE49-F238E27FC236}">
                <a16:creationId xmlns:a16="http://schemas.microsoft.com/office/drawing/2014/main" id="{63BCD025-9F98-45FA-94DD-4DCE53F83088}"/>
              </a:ext>
            </a:extLst>
          </p:cNvPr>
          <p:cNvSpPr>
            <a:spLocks xmlns:a="http://schemas.openxmlformats.org/drawingml/2006/main" noGrp="1"/>
          </p:cNvSpPr>
          <p:nvPr/>
        </p:nvSpPr>
        <p:spPr>
          <a:xfrm xmlns:a="http://schemas.openxmlformats.org/drawingml/2006/main">
            <a:off x="457200" y="3714750"/>
            <a:ext cx="35052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Should a customer’s confirmation be enough to start cooking?</a:t>
            </a:r>
          </a:p>
        </p:txBody>
      </p:sp>
      <p:sp>
        <p:nvSpPr>
          <p:cNvPr id="7" name="Customisation">
            <a:extLst xmlns:a="http://schemas.openxmlformats.org/drawingml/2006/main">
              <a:ext uri="{FF2B5EF4-FFF2-40B4-BE49-F238E27FC236}">
                <a16:creationId xmlns:a16="http://schemas.microsoft.com/office/drawing/2014/main" id="{F4108894-DC1A-414D-A16E-2B1C0D5EFA75}"/>
              </a:ext>
            </a:extLst>
          </p:cNvPr>
          <p:cNvSpPr>
            <a:spLocks xmlns:a="http://schemas.openxmlformats.org/drawingml/2006/main" noGrp="1"/>
          </p:cNvSpPr>
          <p:nvPr/>
        </p:nvSpPr>
        <p:spPr>
          <a:xfrm xmlns:a="http://schemas.openxmlformats.org/drawingml/2006/main">
            <a:off x="4343400" y="2914650"/>
            <a:ext cx="350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Customisation</a:t>
            </a:r>
          </a:p>
        </p:txBody>
      </p:sp>
      <p:sp>
        <p:nvSpPr>
          <p:cNvPr id="8" name="Will one order-wide instruction be clear when it">
            <a:extLst xmlns:a="http://schemas.openxmlformats.org/drawingml/2006/main">
              <a:ext uri="{FF2B5EF4-FFF2-40B4-BE49-F238E27FC236}">
                <a16:creationId xmlns:a16="http://schemas.microsoft.com/office/drawing/2014/main" id="{3E6773CB-6694-40F2-8AF8-39BA49DB3617}"/>
              </a:ext>
            </a:extLst>
          </p:cNvPr>
          <p:cNvSpPr>
            <a:spLocks xmlns:a="http://schemas.openxmlformats.org/drawingml/2006/main" noGrp="1"/>
          </p:cNvSpPr>
          <p:nvPr/>
        </p:nvSpPr>
        <p:spPr>
          <a:xfrm xmlns:a="http://schemas.openxmlformats.org/drawingml/2006/main">
            <a:off x="4343400" y="3714750"/>
            <a:ext cx="35052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Will one order-wide instruction be clear when items differ?</a:t>
            </a:r>
          </a:p>
        </p:txBody>
      </p:sp>
      <p:sp>
        <p:nvSpPr>
          <p:cNvPr id="9" name="Reporting">
            <a:extLst xmlns:a="http://schemas.openxmlformats.org/drawingml/2006/main">
              <a:ext uri="{FF2B5EF4-FFF2-40B4-BE49-F238E27FC236}">
                <a16:creationId xmlns:a16="http://schemas.microsoft.com/office/drawing/2014/main" id="{2FC814E7-4238-433E-AEDE-77072E2A4AD0}"/>
              </a:ext>
            </a:extLst>
          </p:cNvPr>
          <p:cNvSpPr>
            <a:spLocks xmlns:a="http://schemas.openxmlformats.org/drawingml/2006/main" noGrp="1"/>
          </p:cNvSpPr>
          <p:nvPr/>
        </p:nvSpPr>
        <p:spPr>
          <a:xfrm xmlns:a="http://schemas.openxmlformats.org/drawingml/2006/main">
            <a:off x="8229600" y="2914650"/>
            <a:ext cx="350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Reporting</a:t>
            </a:r>
          </a:p>
        </p:txBody>
      </p:sp>
      <p:sp>
        <p:nvSpPr>
          <p:cNvPr id="10" name="Can sales figures alone identify the most profit">
            <a:extLst xmlns:a="http://schemas.openxmlformats.org/drawingml/2006/main">
              <a:ext uri="{FF2B5EF4-FFF2-40B4-BE49-F238E27FC236}">
                <a16:creationId xmlns:a16="http://schemas.microsoft.com/office/drawing/2014/main" id="{260668DB-8F6C-4530-9EE7-678323BB4907}"/>
              </a:ext>
            </a:extLst>
          </p:cNvPr>
          <p:cNvSpPr>
            <a:spLocks xmlns:a="http://schemas.openxmlformats.org/drawingml/2006/main" noGrp="1"/>
          </p:cNvSpPr>
          <p:nvPr/>
        </p:nvSpPr>
        <p:spPr>
          <a:xfrm xmlns:a="http://schemas.openxmlformats.org/drawingml/2006/main">
            <a:off x="8229600" y="3714750"/>
            <a:ext cx="35052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Can sales figures alone identify the most profitable trading location?</a:t>
            </a:r>
          </a:p>
        </p:txBody>
      </p:sp>
    </p:spTree>
    <p:extLst>
      <p:ext uri="{BB962C8B-B14F-4D97-AF65-F5344CB8AC3E}">
        <p14:creationId xmlns:p14="http://schemas.microsoft.com/office/powerpoint/2010/main" val="11375820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OLLOW-UP DISCUSSION  /  OWNER FEEDBACK">
            <a:extLst xmlns:a="http://schemas.openxmlformats.org/drawingml/2006/main">
              <a:ext uri="{FF2B5EF4-FFF2-40B4-BE49-F238E27FC236}">
                <a16:creationId xmlns:a16="http://schemas.microsoft.com/office/drawing/2014/main" id="{34C91883-FB3C-4E8A-863F-26B1D9D4B4BD}"/>
              </a:ext>
            </a:extLst>
          </p:cNvPr>
          <p:cNvSpPr>
            <a:spLocks xmlns:a="http://schemas.openxmlformats.org/drawingml/2006/main" noGrp="1"/>
          </p:cNvSpPr>
          <p:nvPr/>
        </p:nvSpPr>
        <p:spPr>
          <a:xfrm xmlns:a="http://schemas.openxmlformats.org/drawingml/2006/main">
            <a:off x="4572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B63D20"/>
                </a:solidFill>
                <a:latin typeface="Arial"/>
                <a:ea typeface="Arial"/>
                <a:cs typeface="Arial"/>
              </a:defRPr>
            </a:pPr>
            <a:r>
              <a:rPr sz="1650" b="1">
                <a:solidFill>
                  <a:srgbClr val="B63D20"/>
                </a:solidFill>
                <a:latin typeface="Arial"/>
                <a:ea typeface="Arial"/>
                <a:cs typeface="Arial"/>
              </a:rPr>
              <a:t>FOLLOW-UP DISCUSSION  /  OWNER FEEDBACK</a:t>
            </a:r>
          </a:p>
        </p:txBody>
      </p:sp>
      <p:sp>
        <p:nvSpPr>
          <p:cNvPr id="2" name="Feedback makes the proposal more precise">
            <a:extLst xmlns:a="http://schemas.openxmlformats.org/drawingml/2006/main">
              <a:ext uri="{FF2B5EF4-FFF2-40B4-BE49-F238E27FC236}">
                <a16:creationId xmlns:a16="http://schemas.microsoft.com/office/drawing/2014/main" id="{BF2BDF26-D678-46D3-B9A9-CD7131D5A3A2}"/>
              </a:ext>
            </a:extLst>
          </p:cNvPr>
          <p:cNvSpPr>
            <a:spLocks xmlns:a="http://schemas.openxmlformats.org/drawingml/2006/main" noGrp="1"/>
          </p:cNvSpPr>
          <p:nvPr/>
        </p:nvSpPr>
        <p:spPr>
          <a:xfrm xmlns:a="http://schemas.openxmlformats.org/drawingml/2006/main">
            <a:off x="457200" y="752475"/>
            <a:ext cx="11277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91919"/>
                </a:solidFill>
                <a:latin typeface="Arial"/>
                <a:ea typeface="Arial"/>
                <a:cs typeface="Arial"/>
              </a:defRPr>
            </a:pPr>
            <a:r>
              <a:rPr sz="3600" b="1">
                <a:solidFill>
                  <a:srgbClr val="191919"/>
                </a:solidFill>
                <a:latin typeface="Arial"/>
                <a:ea typeface="Arial"/>
                <a:cs typeface="Arial"/>
              </a:rPr>
              <a:t>Feedback makes the proposal more precise</a:t>
            </a:r>
          </a:p>
        </p:txBody>
      </p:sp>
      <p:sp>
        <p:nvSpPr>
          <p:cNvPr id="3" name="BITE ME BURGERS  /  PROJECT DISCUSSION">
            <a:extLst xmlns:a="http://schemas.openxmlformats.org/drawingml/2006/main">
              <a:ext uri="{FF2B5EF4-FFF2-40B4-BE49-F238E27FC236}">
                <a16:creationId xmlns:a16="http://schemas.microsoft.com/office/drawing/2014/main" id="{DF4D2882-0C66-428A-A97F-C9C204DE89C4}"/>
              </a:ext>
            </a:extLst>
          </p:cNvPr>
          <p:cNvSpPr>
            <a:spLocks xmlns:a="http://schemas.openxmlformats.org/drawingml/2006/main" noGrp="1"/>
          </p:cNvSpPr>
          <p:nvPr/>
        </p:nvSpPr>
        <p:spPr>
          <a:xfrm xmlns:a="http://schemas.openxmlformats.org/drawingml/2006/main">
            <a:off x="457200" y="63341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BITE ME BURGERS  /  PROJECT DISCUSSION</a:t>
            </a:r>
          </a:p>
        </p:txBody>
      </p:sp>
      <p:sp>
        <p:nvSpPr>
          <p:cNvPr id="4" name="09">
            <a:extLst xmlns:a="http://schemas.openxmlformats.org/drawingml/2006/main">
              <a:ext uri="{FF2B5EF4-FFF2-40B4-BE49-F238E27FC236}">
                <a16:creationId xmlns:a16="http://schemas.microsoft.com/office/drawing/2014/main" id="{E636B697-7E9E-4F78-86F5-7E6A38BE575A}"/>
              </a:ext>
            </a:extLst>
          </p:cNvPr>
          <p:cNvSpPr>
            <a:spLocks xmlns:a="http://schemas.openxmlformats.org/drawingml/2006/main" noGrp="1"/>
          </p:cNvSpPr>
          <p:nvPr/>
        </p:nvSpPr>
        <p:spPr>
          <a:xfrm xmlns:a="http://schemas.openxmlformats.org/drawingml/2006/main">
            <a:off x="11239500" y="633412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09</a:t>
            </a:r>
          </a:p>
        </p:txBody>
      </p:sp>
      <p:sp>
        <p:nvSpPr>
          <p:cNvPr id="5" name="Owner feedback and resulting changes">
            <a:extLst xmlns:a="http://schemas.openxmlformats.org/drawingml/2006/main">
              <a:ext uri="{FF2B5EF4-FFF2-40B4-BE49-F238E27FC236}">
                <a16:creationId xmlns:a16="http://schemas.microsoft.com/office/drawing/2014/main" id="{9B5E8873-347B-4F06-A2D8-C5BFB3397679}"/>
              </a:ext>
            </a:extLst>
          </p:cNvPr>
          <p:cNvSpPr>
            <a:spLocks xmlns:a="http://schemas.openxmlformats.org/drawingml/2006/main" noGrp="1"/>
          </p:cNvSpPr>
          <p:nvPr/>
        </p:nvSpPr>
        <p:spPr>
          <a:xfrm xmlns:a="http://schemas.openxmlformats.org/drawingml/2006/main">
            <a:off x="457200" y="1809750"/>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Owner feedback, followed by my decision and a clear change to the proposal.</a:t>
            </a:r>
          </a:p>
        </p:txBody>
      </p:sp>
      <p:graphicFrame>
        <p:nvGraphicFramePr>
          <p:cNvPr id="14" name=""/>
          <p:cNvGraphicFramePr/>
          <p:nvPr/>
        </p:nvGraphicFramePr>
        <p:xfrm>
          <a:off xmlns:a="http://schemas.openxmlformats.org/drawingml/2006/main" x="457200" y="2438400"/>
          <a:ext xmlns:a="http://schemas.openxmlformats.org/drawingml/2006/main" cx="11277600" cy="3467100"/>
        </p:xfrm>
        <a:graphic xmlns:a="http://schemas.openxmlformats.org/drawingml/2006/main">
          <a:graphicData uri="http://schemas.openxmlformats.org/drawingml/2006/table">
            <a:tbl>
              <a:tblPr/>
              <a:tblGrid>
                <a:gridCol w="4191000"/>
                <a:gridCol w="1790700"/>
                <a:gridCol w="5295900"/>
              </a:tblGrid>
              <a:tr h="693420">
                <a:tc>
                  <a:txBody>
                    <a:bodyPr/>
                    <a:lstStyle/>
                    <a:p>
                      <a:r>
                        <a:rPr sz="1800" b="1">
                          <a:solidFill>
                            <a:srgbClr val="191919"/>
                          </a:solidFill>
                          <a:latin typeface="Arial"/>
                          <a:ea typeface="Arial"/>
                          <a:cs typeface="Arial"/>
                        </a:rPr>
                        <a:t>Owner’s challenge</a:t>
                      </a:r>
                    </a:p>
                  </a:txBody>
                  <a:tcPr marL="133350" marR="133350" marT="114300" marB="114300" anchor="ctr">
                    <a:solidFill>
                      <a:srgbClr val="EDEDED"/>
                    </a:solidFill>
                  </a:tcPr>
                </a:tc>
                <a:tc>
                  <a:txBody>
                    <a:bodyPr/>
                    <a:lstStyle/>
                    <a:p>
                      <a:r>
                        <a:rPr sz="1800" b="1">
                          <a:solidFill>
                            <a:srgbClr val="191919"/>
                          </a:solidFill>
                          <a:latin typeface="Arial"/>
                          <a:ea typeface="Arial"/>
                          <a:cs typeface="Arial"/>
                        </a:rPr>
                        <a:t>My decision</a:t>
                      </a:r>
                    </a:p>
                  </a:txBody>
                  <a:tcPr marL="133350" marR="133350" marT="114300" marB="114300" anchor="ctr">
                    <a:solidFill>
                      <a:srgbClr val="EDEDED"/>
                    </a:solidFill>
                  </a:tcPr>
                </a:tc>
                <a:tc>
                  <a:txBody>
                    <a:bodyPr/>
                    <a:lstStyle/>
                    <a:p>
                      <a:r>
                        <a:rPr sz="1800" b="1">
                          <a:solidFill>
                            <a:srgbClr val="191919"/>
                          </a:solidFill>
                          <a:latin typeface="Arial"/>
                          <a:ea typeface="Arial"/>
                          <a:cs typeface="Arial"/>
                        </a:rPr>
                        <a:t>Change to the proposal</a:t>
                      </a:r>
                    </a:p>
                  </a:txBody>
                  <a:tcPr marL="133350" marR="133350" marT="114300" marB="114300" anchor="ctr">
                    <a:solidFill>
                      <a:srgbClr val="EDEDED"/>
                    </a:solidFill>
                  </a:tcPr>
                </a:tc>
              </a:tr>
              <a:tr h="693420">
                <a:tc>
                  <a:txBody>
                    <a:bodyPr/>
                    <a:lstStyle/>
                    <a:p>
                      <a:r>
                        <a:rPr sz="1800" b="0">
                          <a:solidFill>
                            <a:srgbClr val="191919"/>
                          </a:solidFill>
                          <a:latin typeface="Arial"/>
                          <a:ea typeface="Arial"/>
                          <a:cs typeface="Arial"/>
                        </a:rPr>
                        <a:t>Customers may leave without paying.</a:t>
                      </a:r>
                    </a:p>
                  </a:txBody>
                  <a:tcPr marL="133350" marR="133350" marT="114300" marB="114300" anchor="ctr">
                    <a:solidFill>
                      <a:srgbClr val="FFFFFF"/>
                    </a:solidFill>
                  </a:tcPr>
                </a:tc>
                <a:tc>
                  <a:txBody>
                    <a:bodyPr/>
                    <a:lstStyle/>
                    <a:p>
                      <a:r>
                        <a:rPr sz="1800" b="0">
                          <a:solidFill>
                            <a:srgbClr val="191919"/>
                          </a:solidFill>
                          <a:latin typeface="Arial"/>
                          <a:ea typeface="Arial"/>
                          <a:cs typeface="Arial"/>
                        </a:rPr>
                        <a:t>Accept</a:t>
                      </a:r>
                    </a:p>
                  </a:txBody>
                  <a:tcPr marL="133350" marR="133350" marT="114300" marB="114300" anchor="ctr">
                    <a:solidFill>
                      <a:srgbClr val="FFFFFF"/>
                    </a:solidFill>
                  </a:tcPr>
                </a:tc>
                <a:tc>
                  <a:txBody>
                    <a:bodyPr/>
                    <a:lstStyle/>
                    <a:p>
                      <a:r>
                        <a:rPr sz="1800" b="0">
                          <a:solidFill>
                            <a:srgbClr val="191919"/>
                          </a:solidFill>
                          <a:latin typeface="Arial"/>
                          <a:ea typeface="Arial"/>
                          <a:cs typeface="Arial"/>
                        </a:rPr>
                        <a:t>Release only paid orders to the kitchen.</a:t>
                      </a:r>
                    </a:p>
                  </a:txBody>
                  <a:tcPr marL="133350" marR="133350" marT="114300" marB="114300" anchor="ctr">
                    <a:solidFill>
                      <a:srgbClr val="FFFFFF"/>
                    </a:solidFill>
                  </a:tcPr>
                </a:tc>
              </a:tr>
              <a:tr h="693420">
                <a:tc>
                  <a:txBody>
                    <a:bodyPr/>
                    <a:lstStyle/>
                    <a:p>
                      <a:r>
                        <a:rPr sz="1800" b="0">
                          <a:solidFill>
                            <a:srgbClr val="191919"/>
                          </a:solidFill>
                          <a:latin typeface="Arial"/>
                          <a:ea typeface="Arial"/>
                          <a:cs typeface="Arial"/>
                        </a:rPr>
                        <a:t>Which burger does the note mean?</a:t>
                      </a:r>
                    </a:p>
                  </a:txBody>
                  <a:tcPr marL="133350" marR="133350" marT="114300" marB="114300" anchor="ctr">
                    <a:solidFill>
                      <a:srgbClr val="FFFFFF"/>
                    </a:solidFill>
                  </a:tcPr>
                </a:tc>
                <a:tc>
                  <a:txBody>
                    <a:bodyPr/>
                    <a:lstStyle/>
                    <a:p>
                      <a:r>
                        <a:rPr sz="1800" b="0">
                          <a:solidFill>
                            <a:srgbClr val="191919"/>
                          </a:solidFill>
                          <a:latin typeface="Arial"/>
                          <a:ea typeface="Arial"/>
                          <a:cs typeface="Arial"/>
                        </a:rPr>
                        <a:t>Adapt</a:t>
                      </a:r>
                    </a:p>
                  </a:txBody>
                  <a:tcPr marL="133350" marR="133350" marT="114300" marB="114300" anchor="ctr">
                    <a:solidFill>
                      <a:srgbClr val="FFFFFF"/>
                    </a:solidFill>
                  </a:tcPr>
                </a:tc>
                <a:tc>
                  <a:txBody>
                    <a:bodyPr/>
                    <a:lstStyle/>
                    <a:p>
                      <a:r>
                        <a:rPr sz="1800" b="0">
                          <a:solidFill>
                            <a:srgbClr val="191919"/>
                          </a:solidFill>
                          <a:latin typeface="Arial"/>
                          <a:ea typeface="Arial"/>
                          <a:cs typeface="Arial"/>
                        </a:rPr>
                        <a:t>Attach permitted options to each item.</a:t>
                      </a:r>
                    </a:p>
                  </a:txBody>
                  <a:tcPr marL="133350" marR="133350" marT="114300" marB="114300" anchor="ctr">
                    <a:solidFill>
                      <a:srgbClr val="FFFFFF"/>
                    </a:solidFill>
                  </a:tcPr>
                </a:tc>
              </a:tr>
              <a:tr h="693420">
                <a:tc>
                  <a:txBody>
                    <a:bodyPr/>
                    <a:lstStyle/>
                    <a:p>
                      <a:r>
                        <a:rPr sz="1800" b="0">
                          <a:solidFill>
                            <a:srgbClr val="191919"/>
                          </a:solidFill>
                          <a:latin typeface="Arial"/>
                          <a:ea typeface="Arial"/>
                          <a:cs typeface="Arial"/>
                        </a:rPr>
                        <a:t>High sales can come with high fees.</a:t>
                      </a:r>
                    </a:p>
                  </a:txBody>
                  <a:tcPr marL="133350" marR="133350" marT="114300" marB="114300" anchor="ctr">
                    <a:solidFill>
                      <a:srgbClr val="FFFFFF"/>
                    </a:solidFill>
                  </a:tcPr>
                </a:tc>
                <a:tc>
                  <a:txBody>
                    <a:bodyPr/>
                    <a:lstStyle/>
                    <a:p>
                      <a:r>
                        <a:rPr sz="1800" b="0">
                          <a:solidFill>
                            <a:srgbClr val="191919"/>
                          </a:solidFill>
                          <a:latin typeface="Arial"/>
                          <a:ea typeface="Arial"/>
                          <a:cs typeface="Arial"/>
                        </a:rPr>
                        <a:t>Correct</a:t>
                      </a:r>
                    </a:p>
                  </a:txBody>
                  <a:tcPr marL="133350" marR="133350" marT="114300" marB="114300" anchor="ctr">
                    <a:solidFill>
                      <a:srgbClr val="FFFFFF"/>
                    </a:solidFill>
                  </a:tcPr>
                </a:tc>
                <a:tc>
                  <a:txBody>
                    <a:bodyPr/>
                    <a:lstStyle/>
                    <a:p>
                      <a:r>
                        <a:rPr sz="1800" b="0">
                          <a:solidFill>
                            <a:srgbClr val="191919"/>
                          </a:solidFill>
                          <a:latin typeface="Arial"/>
                          <a:ea typeface="Arial"/>
                          <a:cs typeface="Arial"/>
                        </a:rPr>
                        <a:t>Compare sales, not claimed profit.</a:t>
                      </a:r>
                    </a:p>
                  </a:txBody>
                  <a:tcPr marL="133350" marR="133350" marT="114300" marB="114300" anchor="ctr">
                    <a:solidFill>
                      <a:srgbClr val="FFFFFF"/>
                    </a:solidFill>
                  </a:tcPr>
                </a:tc>
              </a:tr>
              <a:tr h="693420">
                <a:tc>
                  <a:txBody>
                    <a:bodyPr/>
                    <a:lstStyle/>
                    <a:p>
                      <a:r>
                        <a:rPr sz="1800" b="0">
                          <a:solidFill>
                            <a:srgbClr val="191919"/>
                          </a:solidFill>
                          <a:latin typeface="Arial"/>
                          <a:ea typeface="Arial"/>
                          <a:cs typeface="Arial"/>
                        </a:rPr>
                        <a:t>Could ingredients update automatically?</a:t>
                      </a:r>
                    </a:p>
                  </a:txBody>
                  <a:tcPr marL="133350" marR="133350" marT="114300" marB="114300" anchor="ctr">
                    <a:solidFill>
                      <a:srgbClr val="FFFFFF"/>
                    </a:solidFill>
                  </a:tcPr>
                </a:tc>
                <a:tc>
                  <a:txBody>
                    <a:bodyPr/>
                    <a:lstStyle/>
                    <a:p>
                      <a:r>
                        <a:rPr sz="1800" b="0">
                          <a:solidFill>
                            <a:srgbClr val="191919"/>
                          </a:solidFill>
                          <a:latin typeface="Arial"/>
                          <a:ea typeface="Arial"/>
                          <a:cs typeface="Arial"/>
                        </a:rPr>
                        <a:t>Defer</a:t>
                      </a:r>
                    </a:p>
                  </a:txBody>
                  <a:tcPr marL="133350" marR="133350" marT="114300" marB="114300" anchor="ctr">
                    <a:solidFill>
                      <a:srgbClr val="FFFFFF"/>
                    </a:solidFill>
                  </a:tcPr>
                </a:tc>
                <a:tc>
                  <a:txBody>
                    <a:bodyPr/>
                    <a:lstStyle/>
                    <a:p>
                      <a:r>
                        <a:rPr sz="1800" b="0">
                          <a:solidFill>
                            <a:srgbClr val="191919"/>
                          </a:solidFill>
                          <a:latin typeface="Arial"/>
                          <a:ea typeface="Arial"/>
                          <a:cs typeface="Arial"/>
                        </a:rPr>
                        <a:t>Use staff-controlled availability flags.</a:t>
                      </a:r>
                    </a:p>
                  </a:txBody>
                  <a:tcPr marL="133350" marR="133350" marT="114300" marB="114300" anchor="ctr">
                    <a:solidFill>
                      <a:srgbClr val="FFFFFF"/>
                    </a:solidFill>
                  </a:tcPr>
                </a:tc>
              </a:tr>
            </a:tbl>
          </a:graphicData>
        </a:graphic>
      </p:graphicFrame>
    </p:spTree>
    <p:extLst>
      <p:ext uri="{BB962C8B-B14F-4D97-AF65-F5344CB8AC3E}">
        <p14:creationId xmlns:p14="http://schemas.microsoft.com/office/powerpoint/2010/main" val="8520802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FOLLOW-UP DISCUSSION  /  REVISED PROPOSAL">
            <a:extLst xmlns:a="http://schemas.openxmlformats.org/drawingml/2006/main">
              <a:ext uri="{FF2B5EF4-FFF2-40B4-BE49-F238E27FC236}">
                <a16:creationId xmlns:a16="http://schemas.microsoft.com/office/drawing/2014/main" id="{5676256D-FB5F-4A2D-929A-327E90036AB9}"/>
              </a:ext>
            </a:extLst>
          </p:cNvPr>
          <p:cNvSpPr>
            <a:spLocks xmlns:a="http://schemas.openxmlformats.org/drawingml/2006/main" noGrp="1"/>
          </p:cNvSpPr>
          <p:nvPr/>
        </p:nvSpPr>
        <p:spPr>
          <a:xfrm xmlns:a="http://schemas.openxmlformats.org/drawingml/2006/main">
            <a:off x="4572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B63D20"/>
                </a:solidFill>
                <a:latin typeface="Arial"/>
                <a:ea typeface="Arial"/>
                <a:cs typeface="Arial"/>
              </a:defRPr>
            </a:pPr>
            <a:r>
              <a:rPr sz="1650" b="1">
                <a:solidFill>
                  <a:srgbClr val="B63D20"/>
                </a:solidFill>
                <a:latin typeface="Arial"/>
                <a:ea typeface="Arial"/>
                <a:cs typeface="Arial"/>
              </a:rPr>
              <a:t>FOLLOW-UP DISCUSSION  /  REVISED PROPOSAL</a:t>
            </a:r>
          </a:p>
        </p:txBody>
      </p:sp>
      <p:sp>
        <p:nvSpPr>
          <p:cNvPr id="2" name="Keep the customer and kitchen connected">
            <a:extLst xmlns:a="http://schemas.openxmlformats.org/drawingml/2006/main">
              <a:ext uri="{FF2B5EF4-FFF2-40B4-BE49-F238E27FC236}">
                <a16:creationId xmlns:a16="http://schemas.microsoft.com/office/drawing/2014/main" id="{AC232E33-7386-4802-BF88-89C3D0BAAFE0}"/>
              </a:ext>
            </a:extLst>
          </p:cNvPr>
          <p:cNvSpPr>
            <a:spLocks xmlns:a="http://schemas.openxmlformats.org/drawingml/2006/main" noGrp="1"/>
          </p:cNvSpPr>
          <p:nvPr/>
        </p:nvSpPr>
        <p:spPr>
          <a:xfrm xmlns:a="http://schemas.openxmlformats.org/drawingml/2006/main">
            <a:off x="457200" y="752475"/>
            <a:ext cx="11277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1">
                <a:solidFill>
                  <a:srgbClr val="191919"/>
                </a:solidFill>
                <a:latin typeface="Arial"/>
                <a:ea typeface="Arial"/>
                <a:cs typeface="Arial"/>
              </a:defRPr>
            </a:pPr>
            <a:r>
              <a:rPr sz="3600" b="1">
                <a:solidFill>
                  <a:srgbClr val="191919"/>
                </a:solidFill>
                <a:latin typeface="Arial"/>
                <a:ea typeface="Arial"/>
                <a:cs typeface="Arial"/>
              </a:rPr>
              <a:t>Keep the customer and kitchen connected</a:t>
            </a:r>
          </a:p>
        </p:txBody>
      </p:sp>
      <p:sp>
        <p:nvSpPr>
          <p:cNvPr id="3" name="BITE ME BURGERS  /  PROJECT DISCUSSION">
            <a:extLst xmlns:a="http://schemas.openxmlformats.org/drawingml/2006/main">
              <a:ext uri="{FF2B5EF4-FFF2-40B4-BE49-F238E27FC236}">
                <a16:creationId xmlns:a16="http://schemas.microsoft.com/office/drawing/2014/main" id="{3DF1C81B-1EFC-4482-9D5F-7744EE02BB54}"/>
              </a:ext>
            </a:extLst>
          </p:cNvPr>
          <p:cNvSpPr>
            <a:spLocks xmlns:a="http://schemas.openxmlformats.org/drawingml/2006/main" noGrp="1"/>
          </p:cNvSpPr>
          <p:nvPr/>
        </p:nvSpPr>
        <p:spPr>
          <a:xfrm xmlns:a="http://schemas.openxmlformats.org/drawingml/2006/main">
            <a:off x="457200" y="63341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BITE ME BURGERS  /  PROJECT DISCUSSION</a:t>
            </a:r>
          </a:p>
        </p:txBody>
      </p:sp>
      <p:sp>
        <p:nvSpPr>
          <p:cNvPr id="4" name="10">
            <a:extLst xmlns:a="http://schemas.openxmlformats.org/drawingml/2006/main">
              <a:ext uri="{FF2B5EF4-FFF2-40B4-BE49-F238E27FC236}">
                <a16:creationId xmlns:a16="http://schemas.microsoft.com/office/drawing/2014/main" id="{949EFBB0-BFC6-429B-B3A5-6BEAADA396BF}"/>
              </a:ext>
            </a:extLst>
          </p:cNvPr>
          <p:cNvSpPr>
            <a:spLocks xmlns:a="http://schemas.openxmlformats.org/drawingml/2006/main" noGrp="1"/>
          </p:cNvSpPr>
          <p:nvPr/>
        </p:nvSpPr>
        <p:spPr>
          <a:xfrm xmlns:a="http://schemas.openxmlformats.org/drawingml/2006/main">
            <a:off x="11239500" y="633412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5A5A5A"/>
                </a:solidFill>
                <a:latin typeface="Arial"/>
                <a:ea typeface="Arial"/>
                <a:cs typeface="Arial"/>
              </a:defRPr>
            </a:pPr>
            <a:r>
              <a:rPr sz="1650" b="0">
                <a:solidFill>
                  <a:srgbClr val="5A5A5A"/>
                </a:solidFill>
                <a:latin typeface="Arial"/>
                <a:ea typeface="Arial"/>
                <a:cs typeface="Arial"/>
              </a:rPr>
              <a:t>10</a:t>
            </a:r>
          </a:p>
        </p:txBody>
      </p:sp>
      <p:sp>
        <p:nvSpPr>
          <p:cNvPr id="5" name="The final core">
            <a:extLst xmlns:a="http://schemas.openxmlformats.org/drawingml/2006/main">
              <a:ext uri="{FF2B5EF4-FFF2-40B4-BE49-F238E27FC236}">
                <a16:creationId xmlns:a16="http://schemas.microsoft.com/office/drawing/2014/main" id="{E26581D6-C14F-4BD0-B297-BFD69C0FDAE6}"/>
              </a:ext>
            </a:extLst>
          </p:cNvPr>
          <p:cNvSpPr>
            <a:spLocks xmlns:a="http://schemas.openxmlformats.org/drawingml/2006/main" noGrp="1"/>
          </p:cNvSpPr>
          <p:nvPr/>
        </p:nvSpPr>
        <p:spPr>
          <a:xfrm xmlns:a="http://schemas.openxmlformats.org/drawingml/2006/main">
            <a:off x="457200" y="2362200"/>
            <a:ext cx="5372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The final core</a:t>
            </a:r>
          </a:p>
        </p:txBody>
      </p:sp>
      <p:sp>
        <p:nvSpPr>
          <p:cNvPr id="6" name="Customer ordering and checkout, a paid-order kit">
            <a:extLst xmlns:a="http://schemas.openxmlformats.org/drawingml/2006/main">
              <a:ext uri="{FF2B5EF4-FFF2-40B4-BE49-F238E27FC236}">
                <a16:creationId xmlns:a16="http://schemas.microsoft.com/office/drawing/2014/main" id="{D709B2F3-A0E9-4BA1-998C-A81242C5F7F0}"/>
              </a:ext>
            </a:extLst>
          </p:cNvPr>
          <p:cNvSpPr>
            <a:spLocks xmlns:a="http://schemas.openxmlformats.org/drawingml/2006/main" noGrp="1"/>
          </p:cNvSpPr>
          <p:nvPr/>
        </p:nvSpPr>
        <p:spPr>
          <a:xfrm xmlns:a="http://schemas.openxmlformats.org/drawingml/2006/main">
            <a:off x="457200" y="3162300"/>
            <a:ext cx="53721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Customer ordering and checkout, a paid-order kitchen queue, collection and staff controls.</a:t>
            </a:r>
          </a:p>
        </p:txBody>
      </p:sp>
      <p:sp>
        <p:nvSpPr>
          <p:cNvPr id="7" name="The stronger reasoning">
            <a:extLst xmlns:a="http://schemas.openxmlformats.org/drawingml/2006/main">
              <a:ext uri="{FF2B5EF4-FFF2-40B4-BE49-F238E27FC236}">
                <a16:creationId xmlns:a16="http://schemas.microsoft.com/office/drawing/2014/main" id="{899CA8B1-678E-47FA-B6A2-D24E804BADA5}"/>
              </a:ext>
            </a:extLst>
          </p:cNvPr>
          <p:cNvSpPr>
            <a:spLocks xmlns:a="http://schemas.openxmlformats.org/drawingml/2006/main" noGrp="1"/>
          </p:cNvSpPr>
          <p:nvPr/>
        </p:nvSpPr>
        <p:spPr>
          <a:xfrm xmlns:a="http://schemas.openxmlformats.org/drawingml/2006/main">
            <a:off x="6210300" y="2362200"/>
            <a:ext cx="5372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191919"/>
                </a:solidFill>
                <a:latin typeface="Arial"/>
                <a:ea typeface="Arial"/>
                <a:cs typeface="Arial"/>
              </a:defRPr>
            </a:pPr>
            <a:r>
              <a:rPr sz="2400" b="1">
                <a:solidFill>
                  <a:srgbClr val="191919"/>
                </a:solidFill>
                <a:latin typeface="Arial"/>
                <a:ea typeface="Arial"/>
                <a:cs typeface="Arial"/>
              </a:rPr>
              <a:t>The stronger reasoning</a:t>
            </a:r>
          </a:p>
        </p:txBody>
      </p:sp>
      <p:sp>
        <p:nvSpPr>
          <p:cNvPr id="8" name="Clear item choices, payment before preparation a">
            <a:extLst xmlns:a="http://schemas.openxmlformats.org/drawingml/2006/main">
              <a:ext uri="{FF2B5EF4-FFF2-40B4-BE49-F238E27FC236}">
                <a16:creationId xmlns:a16="http://schemas.microsoft.com/office/drawing/2014/main" id="{CF5AA7A5-55D2-4573-852B-DF050947AA34}"/>
              </a:ext>
            </a:extLst>
          </p:cNvPr>
          <p:cNvSpPr>
            <a:spLocks xmlns:a="http://schemas.openxmlformats.org/drawingml/2006/main" noGrp="1"/>
          </p:cNvSpPr>
          <p:nvPr/>
        </p:nvSpPr>
        <p:spPr>
          <a:xfrm xmlns:a="http://schemas.openxmlformats.org/drawingml/2006/main">
            <a:off x="6210300" y="3162300"/>
            <a:ext cx="53721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91919"/>
                </a:solidFill>
                <a:latin typeface="Arial"/>
                <a:ea typeface="Arial"/>
                <a:cs typeface="Arial"/>
              </a:defRPr>
            </a:pPr>
            <a:r>
              <a:rPr sz="2100" b="0">
                <a:solidFill>
                  <a:srgbClr val="191919"/>
                </a:solidFill>
                <a:latin typeface="Arial"/>
                <a:ea typeface="Arial"/>
                <a:cs typeface="Arial"/>
              </a:rPr>
              <a:t>Clear item choices, payment before preparation and honest sales comparisons.</a:t>
            </a:r>
          </a:p>
        </p:txBody>
      </p:sp>
      <p:sp>
        <p:nvSpPr>
          <p:cNvPr id="9" name="Next: confirm menu, pricing and service rules wi">
            <a:extLst xmlns:a="http://schemas.openxmlformats.org/drawingml/2006/main">
              <a:ext uri="{FF2B5EF4-FFF2-40B4-BE49-F238E27FC236}">
                <a16:creationId xmlns:a16="http://schemas.microsoft.com/office/drawing/2014/main" id="{FE0502E3-8A70-45E1-8284-A81B793AFC44}"/>
              </a:ext>
            </a:extLst>
          </p:cNvPr>
          <p:cNvSpPr>
            <a:spLocks xmlns:a="http://schemas.openxmlformats.org/drawingml/2006/main" noGrp="1"/>
          </p:cNvSpPr>
          <p:nvPr/>
        </p:nvSpPr>
        <p:spPr>
          <a:xfrm xmlns:a="http://schemas.openxmlformats.org/drawingml/2006/main">
            <a:off x="457200" y="5143500"/>
            <a:ext cx="1127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1">
                <a:solidFill>
                  <a:srgbClr val="B63D20"/>
                </a:solidFill>
                <a:latin typeface="Arial"/>
                <a:ea typeface="Arial"/>
                <a:cs typeface="Arial"/>
              </a:defRPr>
            </a:pPr>
            <a:r>
              <a:rPr sz="2400" b="1">
                <a:solidFill>
                  <a:srgbClr val="B63D20"/>
                </a:solidFill>
                <a:latin typeface="Arial"/>
                <a:ea typeface="Arial"/>
                <a:cs typeface="Arial"/>
              </a:rPr>
              <a:t>Next: confirm menu, pricing and service rules with users, then define measurable requirements.</a:t>
            </a:r>
          </a:p>
        </p:txBody>
      </p:sp>
    </p:spTree>
    <p:extLst>
      <p:ext uri="{BB962C8B-B14F-4D97-AF65-F5344CB8AC3E}">
        <p14:creationId xmlns:p14="http://schemas.microsoft.com/office/powerpoint/2010/main" val="19581319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2026-09-09T15:26:39.9910000Z</dcterms:created>
  <dcterms:modified xsi:type="dcterms:W3CDTF">2026-09-09T15:26:39.9910000Z</dcterms:modified>
</coreProperties>
</file>